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project is Explainable Predictive Maintenance Using Machine Learning. I studied how sensor data can identify unusual machine behavior and predict possible failures. I also investigated how Explainable AI and Responsible AI can make those results understandable and usable with appropriate caution.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machine failure can lead to downtime, cost, production delay, and safety concerns. Predictive maintenance uses sensor data to identify risky behavior early. However, a prediction alone is not enough. Users should understand which conditions influenced it and what errors are possible. I therefore designed this as decision support rather than an autonomous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followed six objectives. I explored and prepared the data, used anomaly detection to find unusual behavior, and trained classifiers from known failure labels. I then studied feature relationships, used SHAP and LIME to explain model behavior, and examined false alarms, missed failures, and thresholds from a Responsible AI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Matzka introduced the AI4I dataset in an explainable predictive-maintenance context. Cummins and colleagues emphasized understandable outputs. The Isolation Forest, LIME, and SHAP papers provided the main methods. This project does not claim a new algorithm. Its contribution is an integrated course-level evaluation.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AI4I contains 10,000 records but only 339 failures, so the data is strongly imbalanced. I used six input features and machine failure as the target. Identifier and failure-mode columns were excluded. I used a stratified 80-20 split, giving 8,000 training and 2,000 test records, including 68 test failures. Preprocessing was learned from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trained Isolation Forest on normal training records. On the graph, lower scores toward the left are more anomalous. Blue shows no-failure records and orange shows failures. The distributions overlap. The model flagged 113 records, but only 16 of the 68 failures were among them. Anomaly describes unusual data; failure is a labeled outcome.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classifier learned directly from failure labels. The bottom row of the confusion matrix shows 63 detected failures and 5 missed failures, giving recall of 92.65%. The top-right cell shows 143 false alarms, so precision was 30.58%. Accuracy alone hides this tradeoff because normal records dominate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trained a small feedforward neural network with two hidden layers as a nonlinear benchmark. Numeric inputs were standardized, class weights addressed the rare failure class, and early stopping limited overfitting. I compared it with both decision trees using the same stratified five-fold validation. The neural network reached mean precision 0.2279, recall 0.8525, and F1 0.3593. The engineered tree had the strongest precision and F1 while retaining high recall, so it remained the primary model. This result does not mean trees always outperform neural networks; it only describes this dataset and experiment.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studied pairwise correlation and created understandable relationships such as temperature difference, speed with torque, and wear with torque. Red indicates positive correlation, blue negative correlation, and values near zero weak linear correlation. The engineered features improved mean F1 from 0.36 to 0.51 across five folds. These are candidate relationships, not proven physical laws or causal equations.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explains how features move predictions away from a model baseline. This global chart uses mean absolute contributions across test records, so longer bars mean greater average influence but do not show whether a high feature value raises or lowers the score. Rotational speed, torque, and tool wear were most influential. SHAP describes the fitted model's behavior; it does not establish physical causality or guarantee that a prediction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LIME explains one prediction by generating nearby artificial records, querying the classifier, and fitting a simple weighted surrogate around the selected case. This figure shows a false negative: the machine actually failed, but the classifier predicted no failure. The local SHAP and LIME panels let us compare which features supported or opposed the prediction. I also tested LIME stability instead of assuming the explanation was reliable. For false-negative cases, its mean local surrogate R-squared was only 0.097 and the mean top-three feature overlap across repeated runs was 0.70. Therefore LIME was readable, but its local approximation was weak and should be presented as supporting evidence rather than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threshold converts a model score into a failure alarm. At 0.5, the model detected 63 failures with 143 false alarms. At 0.8, it detected 59 failures with 84 false alarms. Raising the threshold improved precision but reduced recall. Threshold 0.8 is not automatically better. A responsible choice depends on the consequences of missed failures and unnecessary inspections, and should use domain expertise and validation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anomaly detection and failure classification answer different questions. The neural-network experiment showed that greater model complexity did not improve the main failure-focused metrics in this study. The engineered tree provided the strongest balance and remained easier to explain. SHAP supported model inspection, while LIME showed why explanation fidelity must be evaluated. Threshold tuning demonstrated that responsible decisions depend on error consequences. The prototype demonstrates course concepts but is not ready for industrial deployment. Future work should use real temporal data, calibrated probabilities, domain-defined costs, and expert evaluation. Thank you. I am happy to answer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94360"/>
            <a:ext cx="2148840" cy="320040"/>
          </a:xfrm>
          <a:prstGeom prst="roundRect">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03504"/>
            <a:ext cx="2148840"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COURSE PROJECT</a:t>
            </a:r>
          </a:p>
        </p:txBody>
      </p:sp>
      <p:sp>
        <p:nvSpPr>
          <p:cNvPr id="5" name="TextBox 4"/>
          <p:cNvSpPr txBox="1"/>
          <p:nvPr/>
        </p:nvSpPr>
        <p:spPr>
          <a:xfrm>
            <a:off x="685800" y="1234440"/>
            <a:ext cx="10424160" cy="1417320"/>
          </a:xfrm>
          <a:prstGeom prst="rect">
            <a:avLst/>
          </a:prstGeom>
          <a:noFill/>
        </p:spPr>
        <p:txBody>
          <a:bodyPr wrap="square" lIns="27432" rIns="27432" tIns="27432" bIns="27432" anchor="t">
            <a:spAutoFit/>
          </a:bodyPr>
          <a:lstStyle/>
          <a:p>
            <a:pPr algn="l">
              <a:spcAft>
                <a:spcPts val="0"/>
              </a:spcAft>
            </a:pPr>
            <a:r>
              <a:rPr sz="3400" b="1">
                <a:solidFill>
                  <a:srgbClr val="202A30"/>
                </a:solidFill>
                <a:latin typeface="Arial"/>
              </a:rPr>
              <a:t>Explainable Predictive
Maintenance Using Machine Learning</a:t>
            </a:r>
          </a:p>
        </p:txBody>
      </p:sp>
      <p:sp>
        <p:nvSpPr>
          <p:cNvPr id="6" name="TextBox 5"/>
          <p:cNvSpPr txBox="1"/>
          <p:nvPr/>
        </p:nvSpPr>
        <p:spPr>
          <a:xfrm>
            <a:off x="713232" y="2880360"/>
            <a:ext cx="9692640" cy="438912"/>
          </a:xfrm>
          <a:prstGeom prst="rect">
            <a:avLst/>
          </a:prstGeom>
          <a:noFill/>
        </p:spPr>
        <p:txBody>
          <a:bodyPr wrap="square" lIns="27432" rIns="27432" tIns="27432" bIns="27432" anchor="t">
            <a:spAutoFit/>
          </a:bodyPr>
          <a:lstStyle/>
          <a:p>
            <a:pPr algn="l">
              <a:spcAft>
                <a:spcPts val="0"/>
              </a:spcAft>
            </a:pPr>
            <a:r>
              <a:rPr sz="1800" b="0">
                <a:solidFill>
                  <a:srgbClr val="5B6970"/>
                </a:solidFill>
                <a:latin typeface="Arial"/>
              </a:rPr>
              <a:t>Anomaly detection, failure classification, and responsible decision thresholds</a:t>
            </a:r>
          </a:p>
        </p:txBody>
      </p:sp>
      <p:sp>
        <p:nvSpPr>
          <p:cNvPr id="7" name="Rounded Rectangle 6"/>
          <p:cNvSpPr/>
          <p:nvPr/>
        </p:nvSpPr>
        <p:spPr>
          <a:xfrm>
            <a:off x="685800" y="4069080"/>
            <a:ext cx="5120640" cy="1143000"/>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4315968"/>
            <a:ext cx="4572000" cy="320040"/>
          </a:xfrm>
          <a:prstGeom prst="rect">
            <a:avLst/>
          </a:prstGeom>
          <a:noFill/>
        </p:spPr>
        <p:txBody>
          <a:bodyPr wrap="square" lIns="27432" rIns="27432" tIns="27432" bIns="27432" anchor="t">
            <a:spAutoFit/>
          </a:bodyPr>
          <a:lstStyle/>
          <a:p>
            <a:pPr algn="l">
              <a:spcAft>
                <a:spcPts val="0"/>
              </a:spcAft>
            </a:pPr>
            <a:r>
              <a:rPr sz="1700" b="1">
                <a:solidFill>
                  <a:srgbClr val="202A30"/>
                </a:solidFill>
                <a:latin typeface="Arial"/>
              </a:rPr>
              <a:t>Bijay Pandey | Student ID: ADD ID</a:t>
            </a:r>
          </a:p>
        </p:txBody>
      </p:sp>
      <p:sp>
        <p:nvSpPr>
          <p:cNvPr id="9" name="TextBox 8"/>
          <p:cNvSpPr txBox="1"/>
          <p:nvPr/>
        </p:nvSpPr>
        <p:spPr>
          <a:xfrm>
            <a:off x="932688" y="4709160"/>
            <a:ext cx="4572000" cy="228600"/>
          </a:xfrm>
          <a:prstGeom prst="rect">
            <a:avLst/>
          </a:prstGeom>
          <a:noFill/>
        </p:spPr>
        <p:txBody>
          <a:bodyPr wrap="square" lIns="27432" rIns="27432" tIns="27432" bIns="27432" anchor="t">
            <a:spAutoFit/>
          </a:bodyPr>
          <a:lstStyle/>
          <a:p>
            <a:pPr algn="l">
              <a:spcAft>
                <a:spcPts val="0"/>
              </a:spcAft>
            </a:pPr>
            <a:r>
              <a:rPr sz="1100" b="0">
                <a:solidFill>
                  <a:srgbClr val="5B6970"/>
                </a:solidFill>
                <a:latin typeface="Arial"/>
              </a:rPr>
              <a:t>Add group member(s), if applicable</a:t>
            </a:r>
          </a:p>
        </p:txBody>
      </p:sp>
      <p:sp>
        <p:nvSpPr>
          <p:cNvPr id="10" name="TextBox 9"/>
          <p:cNvSpPr txBox="1"/>
          <p:nvPr/>
        </p:nvSpPr>
        <p:spPr>
          <a:xfrm>
            <a:off x="7406640" y="5340096"/>
            <a:ext cx="4069080" cy="502920"/>
          </a:xfrm>
          <a:prstGeom prst="rect">
            <a:avLst/>
          </a:prstGeom>
          <a:noFill/>
        </p:spPr>
        <p:txBody>
          <a:bodyPr wrap="square" lIns="27432" rIns="27432" tIns="27432" bIns="27432" anchor="t">
            <a:spAutoFit/>
          </a:bodyPr>
          <a:lstStyle/>
          <a:p>
            <a:pPr algn="r">
              <a:spcAft>
                <a:spcPts val="0"/>
              </a:spcAft>
            </a:pPr>
            <a:r>
              <a:rPr sz="1400" b="1">
                <a:solidFill>
                  <a:srgbClr val="237470"/>
                </a:solidFill>
                <a:latin typeface="Arial"/>
              </a:rPr>
              <a:t>Responsible and Explainable AI
University of Regina</a:t>
            </a:r>
          </a:p>
        </p:txBody>
      </p:sp>
      <p:sp>
        <p:nvSpPr>
          <p:cNvPr id="11" name="TextBox 10"/>
          <p:cNvSpPr txBox="1"/>
          <p:nvPr/>
        </p:nvSpPr>
        <p:spPr>
          <a:xfrm>
            <a:off x="713232" y="6355080"/>
            <a:ext cx="1828800" cy="182880"/>
          </a:xfrm>
          <a:prstGeom prst="rect">
            <a:avLst/>
          </a:prstGeom>
          <a:noFill/>
        </p:spPr>
        <p:txBody>
          <a:bodyPr wrap="square" lIns="27432" rIns="27432" tIns="27432" bIns="27432" anchor="t">
            <a:spAutoFit/>
          </a:bodyPr>
          <a:lstStyle/>
          <a:p>
            <a:pPr algn="l">
              <a:spcAft>
                <a:spcPts val="0"/>
              </a:spcAft>
            </a:pPr>
            <a:r>
              <a:rPr sz="900" b="1">
                <a:solidFill>
                  <a:srgbClr val="5B6970"/>
                </a:solidFill>
                <a:latin typeface="Arial"/>
              </a:rPr>
              <a:t>FINAL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57200"/>
          </a:xfrm>
          <a:prstGeom prst="rect">
            <a:avLst/>
          </a:prstGeom>
          <a:noFill/>
        </p:spPr>
        <p:txBody>
          <a:bodyPr wrap="square" lIns="27432" rIns="27432" tIns="27432" bIns="27432" anchor="t">
            <a:spAutoFit/>
          </a:bodyPr>
          <a:lstStyle/>
          <a:p>
            <a:pPr algn="l">
              <a:spcAft>
                <a:spcPts val="0"/>
              </a:spcAft>
            </a:pPr>
            <a:r>
              <a:rPr sz="2500" b="1">
                <a:solidFill>
                  <a:srgbClr val="202A30"/>
                </a:solidFill>
                <a:latin typeface="Arial"/>
              </a:rPr>
              <a:t>Introduction: problem and motivation</a:t>
            </a:r>
          </a:p>
        </p:txBody>
      </p:sp>
      <p:sp>
        <p:nvSpPr>
          <p:cNvPr id="3" name="Rectangle 2"/>
          <p:cNvSpPr/>
          <p:nvPr/>
        </p:nvSpPr>
        <p:spPr>
          <a:xfrm>
            <a:off x="566928" y="850392"/>
            <a:ext cx="640080" cy="45720"/>
          </a:xfrm>
          <a:prstGeom prst="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556248"/>
            <a:ext cx="5029200" cy="164592"/>
          </a:xfrm>
          <a:prstGeom prst="rect">
            <a:avLst/>
          </a:prstGeom>
          <a:noFill/>
        </p:spPr>
        <p:txBody>
          <a:bodyPr wrap="square" lIns="27432" rIns="27432" tIns="27432" bIns="27432" anchor="t">
            <a:spAutoFit/>
          </a:bodyPr>
          <a:lstStyle/>
          <a:p>
            <a:pPr algn="l">
              <a:spcAft>
                <a:spcPts val="0"/>
              </a:spcAft>
            </a:pPr>
            <a:r>
              <a:rPr sz="800" b="0">
                <a:solidFill>
                  <a:srgbClr val="5B6970"/>
                </a:solidFill>
                <a:latin typeface="Arial"/>
              </a:rPr>
              <a:t>Responsible and Explainable AI | University of Regina</a:t>
            </a:r>
          </a:p>
        </p:txBody>
      </p:sp>
      <p:sp>
        <p:nvSpPr>
          <p:cNvPr id="5" name="TextBox 4"/>
          <p:cNvSpPr txBox="1"/>
          <p:nvPr/>
        </p:nvSpPr>
        <p:spPr>
          <a:xfrm>
            <a:off x="11109960" y="6528816"/>
            <a:ext cx="502920" cy="182880"/>
          </a:xfrm>
          <a:prstGeom prst="rect">
            <a:avLst/>
          </a:prstGeom>
          <a:noFill/>
        </p:spPr>
        <p:txBody>
          <a:bodyPr wrap="square" lIns="27432" rIns="27432" tIns="27432" bIns="27432" anchor="t">
            <a:spAutoFit/>
          </a:bodyPr>
          <a:lstStyle/>
          <a:p>
            <a:pPr algn="r">
              <a:spcAft>
                <a:spcPts val="0"/>
              </a:spcAft>
            </a:pPr>
            <a:r>
              <a:rPr sz="900" b="1">
                <a:solidFill>
                  <a:srgbClr val="5B6970"/>
                </a:solidFill>
                <a:latin typeface="Arial"/>
              </a:rPr>
              <a:t>2</a:t>
            </a:r>
          </a:p>
        </p:txBody>
      </p:sp>
      <p:sp>
        <p:nvSpPr>
          <p:cNvPr id="6" name="Rounded Rectangle 5"/>
          <p:cNvSpPr/>
          <p:nvPr/>
        </p:nvSpPr>
        <p:spPr>
          <a:xfrm>
            <a:off x="594360" y="1170432"/>
            <a:ext cx="4709160" cy="4526280"/>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41248" y="1417320"/>
            <a:ext cx="1143000" cy="320040"/>
          </a:xfrm>
          <a:prstGeom prst="round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426464"/>
            <a:ext cx="1143000"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PROBLEM</a:t>
            </a:r>
          </a:p>
        </p:txBody>
      </p:sp>
      <p:sp>
        <p:nvSpPr>
          <p:cNvPr id="9" name="Oval 8"/>
          <p:cNvSpPr/>
          <p:nvPr/>
        </p:nvSpPr>
        <p:spPr>
          <a:xfrm>
            <a:off x="868680" y="2002536"/>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901952"/>
            <a:ext cx="3931920" cy="795528"/>
          </a:xfrm>
          <a:prstGeom prst="rect">
            <a:avLst/>
          </a:prstGeom>
          <a:noFill/>
        </p:spPr>
        <p:txBody>
          <a:bodyPr wrap="square" lIns="27432" rIns="27432" tIns="27432" bIns="27432" anchor="t">
            <a:spAutoFit/>
          </a:bodyPr>
          <a:lstStyle/>
          <a:p>
            <a:pPr algn="l">
              <a:spcAft>
                <a:spcPts val="0"/>
              </a:spcAft>
            </a:pPr>
            <a:r>
              <a:rPr sz="1700" b="0">
                <a:solidFill>
                  <a:srgbClr val="202A30"/>
                </a:solidFill>
                <a:latin typeface="Arial"/>
              </a:rPr>
              <a:t>Machine failure can cause downtime, cost, and safety concerns.</a:t>
            </a:r>
          </a:p>
        </p:txBody>
      </p:sp>
      <p:sp>
        <p:nvSpPr>
          <p:cNvPr id="11" name="Oval 10"/>
          <p:cNvSpPr/>
          <p:nvPr/>
        </p:nvSpPr>
        <p:spPr>
          <a:xfrm>
            <a:off x="868680" y="2825496"/>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724912"/>
            <a:ext cx="3931920" cy="795528"/>
          </a:xfrm>
          <a:prstGeom prst="rect">
            <a:avLst/>
          </a:prstGeom>
          <a:noFill/>
        </p:spPr>
        <p:txBody>
          <a:bodyPr wrap="square" lIns="27432" rIns="27432" tIns="27432" bIns="27432" anchor="t">
            <a:spAutoFit/>
          </a:bodyPr>
          <a:lstStyle/>
          <a:p>
            <a:pPr algn="l">
              <a:spcAft>
                <a:spcPts val="0"/>
              </a:spcAft>
            </a:pPr>
            <a:r>
              <a:rPr sz="1700" b="0">
                <a:solidFill>
                  <a:srgbClr val="202A30"/>
                </a:solidFill>
                <a:latin typeface="Arial"/>
              </a:rPr>
              <a:t>Sensor data may identify risky conditions before serious failure.</a:t>
            </a:r>
          </a:p>
        </p:txBody>
      </p:sp>
      <p:sp>
        <p:nvSpPr>
          <p:cNvPr id="13" name="Oval 12"/>
          <p:cNvSpPr/>
          <p:nvPr/>
        </p:nvSpPr>
        <p:spPr>
          <a:xfrm>
            <a:off x="868680" y="3648456"/>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547872"/>
            <a:ext cx="3931920" cy="795528"/>
          </a:xfrm>
          <a:prstGeom prst="rect">
            <a:avLst/>
          </a:prstGeom>
          <a:noFill/>
        </p:spPr>
        <p:txBody>
          <a:bodyPr wrap="square" lIns="27432" rIns="27432" tIns="27432" bIns="27432" anchor="t">
            <a:spAutoFit/>
          </a:bodyPr>
          <a:lstStyle/>
          <a:p>
            <a:pPr algn="l">
              <a:spcAft>
                <a:spcPts val="0"/>
              </a:spcAft>
            </a:pPr>
            <a:r>
              <a:rPr sz="1700" b="0">
                <a:solidFill>
                  <a:srgbClr val="202A30"/>
                </a:solidFill>
                <a:latin typeface="Arial"/>
              </a:rPr>
              <a:t>A prediction is more useful when its reasoning and limits are visible.</a:t>
            </a:r>
          </a:p>
        </p:txBody>
      </p:sp>
      <p:sp>
        <p:nvSpPr>
          <p:cNvPr id="15" name="Rounded Rectangle 14"/>
          <p:cNvSpPr/>
          <p:nvPr/>
        </p:nvSpPr>
        <p:spPr>
          <a:xfrm>
            <a:off x="841248" y="4498848"/>
            <a:ext cx="1234440" cy="320040"/>
          </a:xfrm>
          <a:prstGeom prst="roundRect">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4507992"/>
            <a:ext cx="1234440"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MOTIVATION</a:t>
            </a:r>
          </a:p>
        </p:txBody>
      </p:sp>
      <p:sp>
        <p:nvSpPr>
          <p:cNvPr id="17" name="TextBox 16"/>
          <p:cNvSpPr txBox="1"/>
          <p:nvPr/>
        </p:nvSpPr>
        <p:spPr>
          <a:xfrm>
            <a:off x="868680" y="4919472"/>
            <a:ext cx="4069080" cy="530352"/>
          </a:xfrm>
          <a:prstGeom prst="rect">
            <a:avLst/>
          </a:prstGeom>
          <a:noFill/>
        </p:spPr>
        <p:txBody>
          <a:bodyPr wrap="square" lIns="27432" rIns="27432" tIns="27432" bIns="27432" anchor="t">
            <a:spAutoFit/>
          </a:bodyPr>
          <a:lstStyle/>
          <a:p>
            <a:pPr algn="l">
              <a:spcAft>
                <a:spcPts val="0"/>
              </a:spcAft>
            </a:pPr>
            <a:r>
              <a:rPr sz="1600" b="1">
                <a:solidFill>
                  <a:srgbClr val="202A30"/>
                </a:solidFill>
                <a:latin typeface="Arial"/>
              </a:rPr>
              <a:t>Build an understandable decision-support prototype, not an autonomous maintenance system.</a:t>
            </a:r>
          </a:p>
        </p:txBody>
      </p:sp>
      <p:sp>
        <p:nvSpPr>
          <p:cNvPr id="18" name="TextBox 17"/>
          <p:cNvSpPr txBox="1"/>
          <p:nvPr/>
        </p:nvSpPr>
        <p:spPr>
          <a:xfrm>
            <a:off x="5806440" y="1325880"/>
            <a:ext cx="5394960" cy="320040"/>
          </a:xfrm>
          <a:prstGeom prst="rect">
            <a:avLst/>
          </a:prstGeom>
          <a:noFill/>
        </p:spPr>
        <p:txBody>
          <a:bodyPr wrap="square" lIns="27432" rIns="27432" tIns="27432" bIns="27432" anchor="t">
            <a:spAutoFit/>
          </a:bodyPr>
          <a:lstStyle/>
          <a:p>
            <a:pPr algn="ctr">
              <a:spcAft>
                <a:spcPts val="0"/>
              </a:spcAft>
            </a:pPr>
            <a:r>
              <a:rPr sz="1200" b="1">
                <a:solidFill>
                  <a:srgbClr val="5B6970"/>
                </a:solidFill>
                <a:latin typeface="Arial"/>
              </a:rPr>
              <a:t>FROM SENSOR DATA TO A SUPPORTED DECISION</a:t>
            </a:r>
          </a:p>
        </p:txBody>
      </p:sp>
      <p:sp>
        <p:nvSpPr>
          <p:cNvPr id="19" name="Rounded Rectangle 18"/>
          <p:cNvSpPr/>
          <p:nvPr/>
        </p:nvSpPr>
        <p:spPr>
          <a:xfrm>
            <a:off x="5669280" y="2395728"/>
            <a:ext cx="1236726" cy="960120"/>
          </a:xfrm>
          <a:prstGeom prst="roundRect">
            <a:avLst/>
          </a:prstGeom>
          <a:solidFill>
            <a:srgbClr val="2D6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96712" y="2423160"/>
            <a:ext cx="1181862" cy="905256"/>
          </a:xfrm>
          <a:prstGeom prst="rect">
            <a:avLst/>
          </a:prstGeom>
          <a:noFill/>
        </p:spPr>
        <p:txBody>
          <a:bodyPr wrap="square" lIns="27432" rIns="27432" tIns="27432" bIns="27432" anchor="ctr">
            <a:spAutoFit/>
          </a:bodyPr>
          <a:lstStyle/>
          <a:p>
            <a:pPr algn="ctr">
              <a:spcAft>
                <a:spcPts val="0"/>
              </a:spcAft>
            </a:pPr>
            <a:r>
              <a:rPr sz="1400" b="1">
                <a:solidFill>
                  <a:srgbClr val="FFFFFF"/>
                </a:solidFill>
                <a:latin typeface="Arial"/>
              </a:rPr>
              <a:t>Machine
sensors</a:t>
            </a:r>
          </a:p>
        </p:txBody>
      </p:sp>
      <p:sp>
        <p:nvSpPr>
          <p:cNvPr id="21" name="Chevron 20"/>
          <p:cNvSpPr/>
          <p:nvPr/>
        </p:nvSpPr>
        <p:spPr>
          <a:xfrm>
            <a:off x="6942582" y="2756916"/>
            <a:ext cx="182880" cy="237744"/>
          </a:xfrm>
          <a:prstGeom prst="chevron">
            <a:avLst/>
          </a:prstGeom>
          <a:solidFill>
            <a:srgbClr val="5B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162038" y="2395728"/>
            <a:ext cx="1236726" cy="960120"/>
          </a:xfrm>
          <a:prstGeom prst="roundRect">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89470" y="2423160"/>
            <a:ext cx="1181862" cy="905256"/>
          </a:xfrm>
          <a:prstGeom prst="rect">
            <a:avLst/>
          </a:prstGeom>
          <a:noFill/>
        </p:spPr>
        <p:txBody>
          <a:bodyPr wrap="square" lIns="27432" rIns="27432" tIns="27432" bIns="27432" anchor="ctr">
            <a:spAutoFit/>
          </a:bodyPr>
          <a:lstStyle/>
          <a:p>
            <a:pPr algn="ctr">
              <a:spcAft>
                <a:spcPts val="0"/>
              </a:spcAft>
            </a:pPr>
            <a:r>
              <a:rPr sz="1400" b="1">
                <a:solidFill>
                  <a:srgbClr val="FFFFFF"/>
                </a:solidFill>
                <a:latin typeface="Arial"/>
              </a:rPr>
              <a:t>AI
analysis</a:t>
            </a:r>
          </a:p>
        </p:txBody>
      </p:sp>
      <p:sp>
        <p:nvSpPr>
          <p:cNvPr id="24" name="Chevron 23"/>
          <p:cNvSpPr/>
          <p:nvPr/>
        </p:nvSpPr>
        <p:spPr>
          <a:xfrm>
            <a:off x="8435340" y="2756916"/>
            <a:ext cx="182880" cy="237744"/>
          </a:xfrm>
          <a:prstGeom prst="chevron">
            <a:avLst/>
          </a:prstGeom>
          <a:solidFill>
            <a:srgbClr val="5B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54796" y="2395728"/>
            <a:ext cx="1236726" cy="960120"/>
          </a:xfrm>
          <a:prstGeom prst="round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2228" y="2423160"/>
            <a:ext cx="1181862" cy="905256"/>
          </a:xfrm>
          <a:prstGeom prst="rect">
            <a:avLst/>
          </a:prstGeom>
          <a:noFill/>
        </p:spPr>
        <p:txBody>
          <a:bodyPr wrap="square" lIns="27432" rIns="27432" tIns="27432" bIns="27432" anchor="ctr">
            <a:spAutoFit/>
          </a:bodyPr>
          <a:lstStyle/>
          <a:p>
            <a:pPr algn="ctr">
              <a:spcAft>
                <a:spcPts val="0"/>
              </a:spcAft>
            </a:pPr>
            <a:r>
              <a:rPr sz="1400" b="1">
                <a:solidFill>
                  <a:srgbClr val="FFFFFF"/>
                </a:solidFill>
                <a:latin typeface="Arial"/>
              </a:rPr>
              <a:t>Prediction +
explanation</a:t>
            </a:r>
          </a:p>
        </p:txBody>
      </p:sp>
      <p:sp>
        <p:nvSpPr>
          <p:cNvPr id="27" name="Chevron 26"/>
          <p:cNvSpPr/>
          <p:nvPr/>
        </p:nvSpPr>
        <p:spPr>
          <a:xfrm>
            <a:off x="9928097" y="2756916"/>
            <a:ext cx="182880" cy="237744"/>
          </a:xfrm>
          <a:prstGeom prst="chevron">
            <a:avLst/>
          </a:prstGeom>
          <a:solidFill>
            <a:srgbClr val="5B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147554" y="2395728"/>
            <a:ext cx="1236726" cy="960120"/>
          </a:xfrm>
          <a:prstGeom prst="roundRect">
            <a:avLst/>
          </a:prstGeom>
          <a:solidFill>
            <a:srgbClr val="20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74986" y="2423160"/>
            <a:ext cx="1181862" cy="905256"/>
          </a:xfrm>
          <a:prstGeom prst="rect">
            <a:avLst/>
          </a:prstGeom>
          <a:noFill/>
        </p:spPr>
        <p:txBody>
          <a:bodyPr wrap="square" lIns="27432" rIns="27432" tIns="27432" bIns="27432" anchor="ctr">
            <a:spAutoFit/>
          </a:bodyPr>
          <a:lstStyle/>
          <a:p>
            <a:pPr algn="ctr">
              <a:spcAft>
                <a:spcPts val="0"/>
              </a:spcAft>
            </a:pPr>
            <a:r>
              <a:rPr sz="1400" b="1">
                <a:solidFill>
                  <a:srgbClr val="FFFFFF"/>
                </a:solidFill>
                <a:latin typeface="Arial"/>
              </a:rPr>
              <a:t>Maintenance
decision</a:t>
            </a:r>
          </a:p>
        </p:txBody>
      </p:sp>
      <p:sp>
        <p:nvSpPr>
          <p:cNvPr id="30" name="TextBox 29"/>
          <p:cNvSpPr txBox="1"/>
          <p:nvPr/>
        </p:nvSpPr>
        <p:spPr>
          <a:xfrm>
            <a:off x="5925312" y="3822191"/>
            <a:ext cx="5166360" cy="914400"/>
          </a:xfrm>
          <a:prstGeom prst="rect">
            <a:avLst/>
          </a:prstGeom>
          <a:noFill/>
        </p:spPr>
        <p:txBody>
          <a:bodyPr wrap="square" lIns="27432" rIns="27432" tIns="27432" bIns="27432" anchor="t">
            <a:spAutoFit/>
          </a:bodyPr>
          <a:lstStyle/>
          <a:p>
            <a:pPr algn="ctr">
              <a:spcAft>
                <a:spcPts val="0"/>
              </a:spcAft>
            </a:pPr>
            <a:r>
              <a:rPr sz="1700" b="0">
                <a:solidFill>
                  <a:srgbClr val="202A30"/>
                </a:solidFill>
                <a:latin typeface="Arial"/>
              </a:rPr>
              <a:t>The model supports inspection and prioritization. A qualified user remains responsible for the final maintenance 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57200"/>
          </a:xfrm>
          <a:prstGeom prst="rect">
            <a:avLst/>
          </a:prstGeom>
          <a:noFill/>
        </p:spPr>
        <p:txBody>
          <a:bodyPr wrap="square" lIns="27432" rIns="27432" tIns="27432" bIns="27432" anchor="t">
            <a:spAutoFit/>
          </a:bodyPr>
          <a:lstStyle/>
          <a:p>
            <a:pPr algn="l">
              <a:spcAft>
                <a:spcPts val="0"/>
              </a:spcAft>
            </a:pPr>
            <a:r>
              <a:rPr sz="2500" b="1">
                <a:solidFill>
                  <a:srgbClr val="202A30"/>
                </a:solidFill>
                <a:latin typeface="Arial"/>
              </a:rPr>
              <a:t>Project objectives</a:t>
            </a:r>
          </a:p>
        </p:txBody>
      </p:sp>
      <p:sp>
        <p:nvSpPr>
          <p:cNvPr id="3" name="Rectangle 2"/>
          <p:cNvSpPr/>
          <p:nvPr/>
        </p:nvSpPr>
        <p:spPr>
          <a:xfrm>
            <a:off x="566928" y="850392"/>
            <a:ext cx="640080" cy="45720"/>
          </a:xfrm>
          <a:prstGeom prst="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740664"/>
            <a:ext cx="9784080" cy="256032"/>
          </a:xfrm>
          <a:prstGeom prst="rect">
            <a:avLst/>
          </a:prstGeom>
          <a:noFill/>
        </p:spPr>
        <p:txBody>
          <a:bodyPr wrap="square" lIns="27432" rIns="27432" tIns="27432" bIns="27432" anchor="t">
            <a:spAutoFit/>
          </a:bodyPr>
          <a:lstStyle/>
          <a:p>
            <a:pPr algn="l">
              <a:spcAft>
                <a:spcPts val="0"/>
              </a:spcAft>
            </a:pPr>
            <a:r>
              <a:rPr sz="1000" b="0">
                <a:solidFill>
                  <a:srgbClr val="5B6970"/>
                </a:solidFill>
                <a:latin typeface="Arial"/>
              </a:rPr>
              <a:t>Six connected questions guided the implementation</a:t>
            </a:r>
          </a:p>
        </p:txBody>
      </p:sp>
      <p:sp>
        <p:nvSpPr>
          <p:cNvPr id="5" name="TextBox 4"/>
          <p:cNvSpPr txBox="1"/>
          <p:nvPr/>
        </p:nvSpPr>
        <p:spPr>
          <a:xfrm>
            <a:off x="566928" y="6556248"/>
            <a:ext cx="5029200" cy="164592"/>
          </a:xfrm>
          <a:prstGeom prst="rect">
            <a:avLst/>
          </a:prstGeom>
          <a:noFill/>
        </p:spPr>
        <p:txBody>
          <a:bodyPr wrap="square" lIns="27432" rIns="27432" tIns="27432" bIns="27432" anchor="t">
            <a:spAutoFit/>
          </a:bodyPr>
          <a:lstStyle/>
          <a:p>
            <a:pPr algn="l">
              <a:spcAft>
                <a:spcPts val="0"/>
              </a:spcAft>
            </a:pPr>
            <a:r>
              <a:rPr sz="800" b="0">
                <a:solidFill>
                  <a:srgbClr val="5B6970"/>
                </a:solidFill>
                <a:latin typeface="Arial"/>
              </a:rPr>
              <a:t>Responsible and Explainable AI | University of Regina</a:t>
            </a:r>
          </a:p>
        </p:txBody>
      </p:sp>
      <p:sp>
        <p:nvSpPr>
          <p:cNvPr id="6" name="TextBox 5"/>
          <p:cNvSpPr txBox="1"/>
          <p:nvPr/>
        </p:nvSpPr>
        <p:spPr>
          <a:xfrm>
            <a:off x="11109960" y="6528816"/>
            <a:ext cx="502920" cy="182880"/>
          </a:xfrm>
          <a:prstGeom prst="rect">
            <a:avLst/>
          </a:prstGeom>
          <a:noFill/>
        </p:spPr>
        <p:txBody>
          <a:bodyPr wrap="square" lIns="27432" rIns="27432" tIns="27432" bIns="27432" anchor="t">
            <a:spAutoFit/>
          </a:bodyPr>
          <a:lstStyle/>
          <a:p>
            <a:pPr algn="r">
              <a:spcAft>
                <a:spcPts val="0"/>
              </a:spcAft>
            </a:pPr>
            <a:r>
              <a:rPr sz="900" b="1">
                <a:solidFill>
                  <a:srgbClr val="5B6970"/>
                </a:solidFill>
                <a:latin typeface="Arial"/>
              </a:rPr>
              <a:t>3</a:t>
            </a:r>
          </a:p>
        </p:txBody>
      </p:sp>
      <p:sp>
        <p:nvSpPr>
          <p:cNvPr id="7" name="Oval 6"/>
          <p:cNvSpPr/>
          <p:nvPr/>
        </p:nvSpPr>
        <p:spPr>
          <a:xfrm>
            <a:off x="822960" y="1371600"/>
            <a:ext cx="384048" cy="384048"/>
          </a:xfrm>
          <a:prstGeom prst="ellipse">
            <a:avLst/>
          </a:prstGeom>
          <a:solidFill>
            <a:srgbClr val="2D6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71600"/>
            <a:ext cx="384048" cy="384048"/>
          </a:xfrm>
          <a:prstGeom prst="rect">
            <a:avLst/>
          </a:prstGeom>
          <a:noFill/>
        </p:spPr>
        <p:txBody>
          <a:bodyPr wrap="square" lIns="27432" rIns="27432" tIns="27432" bIns="27432" anchor="ctr">
            <a:spAutoFit/>
          </a:bodyPr>
          <a:lstStyle/>
          <a:p>
            <a:pPr algn="ctr">
              <a:spcAft>
                <a:spcPts val="0"/>
              </a:spcAft>
            </a:pPr>
            <a:r>
              <a:rPr sz="1300" b="1">
                <a:solidFill>
                  <a:srgbClr val="FFFFFF"/>
                </a:solidFill>
                <a:latin typeface="Arial"/>
              </a:rPr>
              <a:t>1</a:t>
            </a:r>
          </a:p>
        </p:txBody>
      </p:sp>
      <p:sp>
        <p:nvSpPr>
          <p:cNvPr id="9" name="TextBox 8"/>
          <p:cNvSpPr txBox="1"/>
          <p:nvPr/>
        </p:nvSpPr>
        <p:spPr>
          <a:xfrm>
            <a:off x="1335024" y="1362456"/>
            <a:ext cx="4562856" cy="420624"/>
          </a:xfrm>
          <a:prstGeom prst="rect">
            <a:avLst/>
          </a:prstGeom>
          <a:noFill/>
        </p:spPr>
        <p:txBody>
          <a:bodyPr wrap="square" lIns="27432" rIns="27432" tIns="27432" bIns="27432" anchor="ctr">
            <a:spAutoFit/>
          </a:bodyPr>
          <a:lstStyle/>
          <a:p>
            <a:pPr algn="l">
              <a:spcAft>
                <a:spcPts val="0"/>
              </a:spcAft>
            </a:pPr>
            <a:r>
              <a:rPr sz="1600" b="0">
                <a:solidFill>
                  <a:srgbClr val="202A30"/>
                </a:solidFill>
                <a:latin typeface="Arial"/>
              </a:rPr>
              <a:t>Explore and prepare industrial sensor data</a:t>
            </a:r>
          </a:p>
        </p:txBody>
      </p:sp>
      <p:sp>
        <p:nvSpPr>
          <p:cNvPr id="10" name="Oval 9"/>
          <p:cNvSpPr/>
          <p:nvPr/>
        </p:nvSpPr>
        <p:spPr>
          <a:xfrm>
            <a:off x="822960" y="2697480"/>
            <a:ext cx="384048" cy="384048"/>
          </a:xfrm>
          <a:prstGeom prst="ellipse">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97480"/>
            <a:ext cx="384048" cy="384048"/>
          </a:xfrm>
          <a:prstGeom prst="rect">
            <a:avLst/>
          </a:prstGeom>
          <a:noFill/>
        </p:spPr>
        <p:txBody>
          <a:bodyPr wrap="square" lIns="27432" rIns="27432" tIns="27432" bIns="27432" anchor="ctr">
            <a:spAutoFit/>
          </a:bodyPr>
          <a:lstStyle/>
          <a:p>
            <a:pPr algn="ctr">
              <a:spcAft>
                <a:spcPts val="0"/>
              </a:spcAft>
            </a:pPr>
            <a:r>
              <a:rPr sz="1300" b="1">
                <a:solidFill>
                  <a:srgbClr val="FFFFFF"/>
                </a:solidFill>
                <a:latin typeface="Arial"/>
              </a:rPr>
              <a:t>2</a:t>
            </a:r>
          </a:p>
        </p:txBody>
      </p:sp>
      <p:sp>
        <p:nvSpPr>
          <p:cNvPr id="12" name="TextBox 11"/>
          <p:cNvSpPr txBox="1"/>
          <p:nvPr/>
        </p:nvSpPr>
        <p:spPr>
          <a:xfrm>
            <a:off x="1335024" y="2688336"/>
            <a:ext cx="4562856" cy="420624"/>
          </a:xfrm>
          <a:prstGeom prst="rect">
            <a:avLst/>
          </a:prstGeom>
          <a:noFill/>
        </p:spPr>
        <p:txBody>
          <a:bodyPr wrap="square" lIns="27432" rIns="27432" tIns="27432" bIns="27432" anchor="ctr">
            <a:spAutoFit/>
          </a:bodyPr>
          <a:lstStyle/>
          <a:p>
            <a:pPr algn="l">
              <a:spcAft>
                <a:spcPts val="0"/>
              </a:spcAft>
            </a:pPr>
            <a:r>
              <a:rPr sz="1600" b="0">
                <a:solidFill>
                  <a:srgbClr val="202A30"/>
                </a:solidFill>
                <a:latin typeface="Arial"/>
              </a:rPr>
              <a:t>Detect records with unusual behavior</a:t>
            </a:r>
          </a:p>
        </p:txBody>
      </p:sp>
      <p:sp>
        <p:nvSpPr>
          <p:cNvPr id="13" name="Oval 12"/>
          <p:cNvSpPr/>
          <p:nvPr/>
        </p:nvSpPr>
        <p:spPr>
          <a:xfrm>
            <a:off x="822960" y="4023360"/>
            <a:ext cx="384048" cy="384048"/>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023360"/>
            <a:ext cx="384048" cy="384048"/>
          </a:xfrm>
          <a:prstGeom prst="rect">
            <a:avLst/>
          </a:prstGeom>
          <a:noFill/>
        </p:spPr>
        <p:txBody>
          <a:bodyPr wrap="square" lIns="27432" rIns="27432" tIns="27432" bIns="27432" anchor="ctr">
            <a:spAutoFit/>
          </a:bodyPr>
          <a:lstStyle/>
          <a:p>
            <a:pPr algn="ctr">
              <a:spcAft>
                <a:spcPts val="0"/>
              </a:spcAft>
            </a:pPr>
            <a:r>
              <a:rPr sz="1300" b="1">
                <a:solidFill>
                  <a:srgbClr val="FFFFFF"/>
                </a:solidFill>
                <a:latin typeface="Arial"/>
              </a:rPr>
              <a:t>3</a:t>
            </a:r>
          </a:p>
        </p:txBody>
      </p:sp>
      <p:sp>
        <p:nvSpPr>
          <p:cNvPr id="15" name="TextBox 14"/>
          <p:cNvSpPr txBox="1"/>
          <p:nvPr/>
        </p:nvSpPr>
        <p:spPr>
          <a:xfrm>
            <a:off x="1335024" y="4014216"/>
            <a:ext cx="4562856" cy="420624"/>
          </a:xfrm>
          <a:prstGeom prst="rect">
            <a:avLst/>
          </a:prstGeom>
          <a:noFill/>
        </p:spPr>
        <p:txBody>
          <a:bodyPr wrap="square" lIns="27432" rIns="27432" tIns="27432" bIns="27432" anchor="ctr">
            <a:spAutoFit/>
          </a:bodyPr>
          <a:lstStyle/>
          <a:p>
            <a:pPr algn="l">
              <a:spcAft>
                <a:spcPts val="0"/>
              </a:spcAft>
            </a:pPr>
            <a:r>
              <a:rPr sz="1600" b="0">
                <a:solidFill>
                  <a:srgbClr val="202A30"/>
                </a:solidFill>
                <a:latin typeface="Arial"/>
              </a:rPr>
              <a:t>Classify failure and no-failure records</a:t>
            </a:r>
          </a:p>
        </p:txBody>
      </p:sp>
      <p:sp>
        <p:nvSpPr>
          <p:cNvPr id="16" name="Oval 15"/>
          <p:cNvSpPr/>
          <p:nvPr/>
        </p:nvSpPr>
        <p:spPr>
          <a:xfrm>
            <a:off x="6355080" y="1371600"/>
            <a:ext cx="384048" cy="384048"/>
          </a:xfrm>
          <a:prstGeom prst="ellipse">
            <a:avLst/>
          </a:prstGeom>
          <a:solidFill>
            <a:srgbClr val="2D6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371600"/>
            <a:ext cx="384048" cy="384048"/>
          </a:xfrm>
          <a:prstGeom prst="rect">
            <a:avLst/>
          </a:prstGeom>
          <a:noFill/>
        </p:spPr>
        <p:txBody>
          <a:bodyPr wrap="square" lIns="27432" rIns="27432" tIns="27432" bIns="27432" anchor="ctr">
            <a:spAutoFit/>
          </a:bodyPr>
          <a:lstStyle/>
          <a:p>
            <a:pPr algn="ctr">
              <a:spcAft>
                <a:spcPts val="0"/>
              </a:spcAft>
            </a:pPr>
            <a:r>
              <a:rPr sz="1300" b="1">
                <a:solidFill>
                  <a:srgbClr val="FFFFFF"/>
                </a:solidFill>
                <a:latin typeface="Arial"/>
              </a:rPr>
              <a:t>4</a:t>
            </a:r>
          </a:p>
        </p:txBody>
      </p:sp>
      <p:sp>
        <p:nvSpPr>
          <p:cNvPr id="18" name="TextBox 17"/>
          <p:cNvSpPr txBox="1"/>
          <p:nvPr/>
        </p:nvSpPr>
        <p:spPr>
          <a:xfrm>
            <a:off x="6867144" y="1362456"/>
            <a:ext cx="4471416" cy="420624"/>
          </a:xfrm>
          <a:prstGeom prst="rect">
            <a:avLst/>
          </a:prstGeom>
          <a:noFill/>
        </p:spPr>
        <p:txBody>
          <a:bodyPr wrap="square" lIns="27432" rIns="27432" tIns="27432" bIns="27432" anchor="ctr">
            <a:spAutoFit/>
          </a:bodyPr>
          <a:lstStyle/>
          <a:p>
            <a:pPr algn="l">
              <a:spcAft>
                <a:spcPts val="0"/>
              </a:spcAft>
            </a:pPr>
            <a:r>
              <a:rPr sz="1600" b="0">
                <a:solidFill>
                  <a:srgbClr val="202A30"/>
                </a:solidFill>
                <a:latin typeface="Arial"/>
              </a:rPr>
              <a:t>Study relationships between sensor features</a:t>
            </a:r>
          </a:p>
        </p:txBody>
      </p:sp>
      <p:sp>
        <p:nvSpPr>
          <p:cNvPr id="19" name="Oval 18"/>
          <p:cNvSpPr/>
          <p:nvPr/>
        </p:nvSpPr>
        <p:spPr>
          <a:xfrm>
            <a:off x="6355080" y="2697480"/>
            <a:ext cx="384048" cy="384048"/>
          </a:xfrm>
          <a:prstGeom prst="ellipse">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2697480"/>
            <a:ext cx="384048" cy="384048"/>
          </a:xfrm>
          <a:prstGeom prst="rect">
            <a:avLst/>
          </a:prstGeom>
          <a:noFill/>
        </p:spPr>
        <p:txBody>
          <a:bodyPr wrap="square" lIns="27432" rIns="27432" tIns="27432" bIns="27432" anchor="ctr">
            <a:spAutoFit/>
          </a:bodyPr>
          <a:lstStyle/>
          <a:p>
            <a:pPr algn="ctr">
              <a:spcAft>
                <a:spcPts val="0"/>
              </a:spcAft>
            </a:pPr>
            <a:r>
              <a:rPr sz="1300" b="1">
                <a:solidFill>
                  <a:srgbClr val="FFFFFF"/>
                </a:solidFill>
                <a:latin typeface="Arial"/>
              </a:rPr>
              <a:t>5</a:t>
            </a:r>
          </a:p>
        </p:txBody>
      </p:sp>
      <p:sp>
        <p:nvSpPr>
          <p:cNvPr id="21" name="TextBox 20"/>
          <p:cNvSpPr txBox="1"/>
          <p:nvPr/>
        </p:nvSpPr>
        <p:spPr>
          <a:xfrm>
            <a:off x="6867144" y="2688336"/>
            <a:ext cx="4471416" cy="420624"/>
          </a:xfrm>
          <a:prstGeom prst="rect">
            <a:avLst/>
          </a:prstGeom>
          <a:noFill/>
        </p:spPr>
        <p:txBody>
          <a:bodyPr wrap="square" lIns="27432" rIns="27432" tIns="27432" bIns="27432" anchor="ctr">
            <a:spAutoFit/>
          </a:bodyPr>
          <a:lstStyle/>
          <a:p>
            <a:pPr algn="l">
              <a:spcAft>
                <a:spcPts val="0"/>
              </a:spcAft>
            </a:pPr>
            <a:r>
              <a:rPr sz="1600" b="0">
                <a:solidFill>
                  <a:srgbClr val="202A30"/>
                </a:solidFill>
                <a:latin typeface="Arial"/>
              </a:rPr>
              <a:t>Explain global and individual predictions</a:t>
            </a:r>
          </a:p>
        </p:txBody>
      </p:sp>
      <p:sp>
        <p:nvSpPr>
          <p:cNvPr id="22" name="Oval 21"/>
          <p:cNvSpPr/>
          <p:nvPr/>
        </p:nvSpPr>
        <p:spPr>
          <a:xfrm>
            <a:off x="6355080" y="4023360"/>
            <a:ext cx="384048" cy="384048"/>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4023360"/>
            <a:ext cx="384048" cy="384048"/>
          </a:xfrm>
          <a:prstGeom prst="rect">
            <a:avLst/>
          </a:prstGeom>
          <a:noFill/>
        </p:spPr>
        <p:txBody>
          <a:bodyPr wrap="square" lIns="27432" rIns="27432" tIns="27432" bIns="27432" anchor="ctr">
            <a:spAutoFit/>
          </a:bodyPr>
          <a:lstStyle/>
          <a:p>
            <a:pPr algn="ctr">
              <a:spcAft>
                <a:spcPts val="0"/>
              </a:spcAft>
            </a:pPr>
            <a:r>
              <a:rPr sz="1300" b="1">
                <a:solidFill>
                  <a:srgbClr val="FFFFFF"/>
                </a:solidFill>
                <a:latin typeface="Arial"/>
              </a:rPr>
              <a:t>6</a:t>
            </a:r>
          </a:p>
        </p:txBody>
      </p:sp>
      <p:sp>
        <p:nvSpPr>
          <p:cNvPr id="24" name="TextBox 23"/>
          <p:cNvSpPr txBox="1"/>
          <p:nvPr/>
        </p:nvSpPr>
        <p:spPr>
          <a:xfrm>
            <a:off x="6867144" y="4014216"/>
            <a:ext cx="4471416" cy="420624"/>
          </a:xfrm>
          <a:prstGeom prst="rect">
            <a:avLst/>
          </a:prstGeom>
          <a:noFill/>
        </p:spPr>
        <p:txBody>
          <a:bodyPr wrap="square" lIns="27432" rIns="27432" tIns="27432" bIns="27432" anchor="ctr">
            <a:spAutoFit/>
          </a:bodyPr>
          <a:lstStyle/>
          <a:p>
            <a:pPr algn="l">
              <a:spcAft>
                <a:spcPts val="0"/>
              </a:spcAft>
            </a:pPr>
            <a:r>
              <a:rPr sz="1600" b="0">
                <a:solidFill>
                  <a:srgbClr val="202A30"/>
                </a:solidFill>
                <a:latin typeface="Arial"/>
              </a:rPr>
              <a:t>Evaluate errors using Responsible AI principles</a:t>
            </a:r>
          </a:p>
        </p:txBody>
      </p:sp>
      <p:sp>
        <p:nvSpPr>
          <p:cNvPr id="25" name="Rounded Rectangle 24"/>
          <p:cNvSpPr/>
          <p:nvPr/>
        </p:nvSpPr>
        <p:spPr>
          <a:xfrm>
            <a:off x="1097280" y="5431536"/>
            <a:ext cx="9966960" cy="603504"/>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98448" y="5577840"/>
            <a:ext cx="9555480" cy="274320"/>
          </a:xfrm>
          <a:prstGeom prst="rect">
            <a:avLst/>
          </a:prstGeom>
          <a:noFill/>
        </p:spPr>
        <p:txBody>
          <a:bodyPr wrap="square" lIns="27432" rIns="27432" tIns="27432" bIns="27432" anchor="t">
            <a:spAutoFit/>
          </a:bodyPr>
          <a:lstStyle/>
          <a:p>
            <a:pPr algn="ctr">
              <a:spcAft>
                <a:spcPts val="0"/>
              </a:spcAft>
            </a:pPr>
            <a:r>
              <a:rPr sz="1700" b="1">
                <a:solidFill>
                  <a:srgbClr val="237470"/>
                </a:solidFill>
                <a:latin typeface="Arial"/>
              </a:rPr>
              <a:t>Anomaly detection asks what looks unusual. Classification asks what resembles known failures.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57200"/>
          </a:xfrm>
          <a:prstGeom prst="rect">
            <a:avLst/>
          </a:prstGeom>
          <a:noFill/>
        </p:spPr>
        <p:txBody>
          <a:bodyPr wrap="square" lIns="27432" rIns="27432" tIns="27432" bIns="27432" anchor="t">
            <a:spAutoFit/>
          </a:bodyPr>
          <a:lstStyle/>
          <a:p>
            <a:pPr algn="l">
              <a:spcAft>
                <a:spcPts val="0"/>
              </a:spcAft>
            </a:pPr>
            <a:r>
              <a:rPr sz="2500" b="1">
                <a:solidFill>
                  <a:srgbClr val="202A30"/>
                </a:solidFill>
                <a:latin typeface="Arial"/>
              </a:rPr>
              <a:t>Brief literature review</a:t>
            </a:r>
          </a:p>
        </p:txBody>
      </p:sp>
      <p:sp>
        <p:nvSpPr>
          <p:cNvPr id="3" name="Rectangle 2"/>
          <p:cNvSpPr/>
          <p:nvPr/>
        </p:nvSpPr>
        <p:spPr>
          <a:xfrm>
            <a:off x="566928" y="850392"/>
            <a:ext cx="640080" cy="45720"/>
          </a:xfrm>
          <a:prstGeom prst="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740664"/>
            <a:ext cx="9784080" cy="256032"/>
          </a:xfrm>
          <a:prstGeom prst="rect">
            <a:avLst/>
          </a:prstGeom>
          <a:noFill/>
        </p:spPr>
        <p:txBody>
          <a:bodyPr wrap="square" lIns="27432" rIns="27432" tIns="27432" bIns="27432" anchor="t">
            <a:spAutoFit/>
          </a:bodyPr>
          <a:lstStyle/>
          <a:p>
            <a:pPr algn="l">
              <a:spcAft>
                <a:spcPts val="0"/>
              </a:spcAft>
            </a:pPr>
            <a:r>
              <a:rPr sz="1000" b="0">
                <a:solidFill>
                  <a:srgbClr val="5B6970"/>
                </a:solidFill>
                <a:latin typeface="Arial"/>
              </a:rPr>
              <a:t>Related work informed the data, methods, and responsible-use framing</a:t>
            </a:r>
          </a:p>
        </p:txBody>
      </p:sp>
      <p:sp>
        <p:nvSpPr>
          <p:cNvPr id="5" name="TextBox 4"/>
          <p:cNvSpPr txBox="1"/>
          <p:nvPr/>
        </p:nvSpPr>
        <p:spPr>
          <a:xfrm>
            <a:off x="566928" y="6556248"/>
            <a:ext cx="5029200" cy="164592"/>
          </a:xfrm>
          <a:prstGeom prst="rect">
            <a:avLst/>
          </a:prstGeom>
          <a:noFill/>
        </p:spPr>
        <p:txBody>
          <a:bodyPr wrap="square" lIns="27432" rIns="27432" tIns="27432" bIns="27432" anchor="t">
            <a:spAutoFit/>
          </a:bodyPr>
          <a:lstStyle/>
          <a:p>
            <a:pPr algn="l">
              <a:spcAft>
                <a:spcPts val="0"/>
              </a:spcAft>
            </a:pPr>
            <a:r>
              <a:rPr sz="800" b="0">
                <a:solidFill>
                  <a:srgbClr val="5B6970"/>
                </a:solidFill>
                <a:latin typeface="Arial"/>
              </a:rPr>
              <a:t>Responsible and Explainable AI | University of Regina</a:t>
            </a:r>
          </a:p>
        </p:txBody>
      </p:sp>
      <p:sp>
        <p:nvSpPr>
          <p:cNvPr id="6" name="TextBox 5"/>
          <p:cNvSpPr txBox="1"/>
          <p:nvPr/>
        </p:nvSpPr>
        <p:spPr>
          <a:xfrm>
            <a:off x="11109960" y="6528816"/>
            <a:ext cx="502920" cy="182880"/>
          </a:xfrm>
          <a:prstGeom prst="rect">
            <a:avLst/>
          </a:prstGeom>
          <a:noFill/>
        </p:spPr>
        <p:txBody>
          <a:bodyPr wrap="square" lIns="27432" rIns="27432" tIns="27432" bIns="27432" anchor="t">
            <a:spAutoFit/>
          </a:bodyPr>
          <a:lstStyle/>
          <a:p>
            <a:pPr algn="r">
              <a:spcAft>
                <a:spcPts val="0"/>
              </a:spcAft>
            </a:pPr>
            <a:r>
              <a:rPr sz="900" b="1">
                <a:solidFill>
                  <a:srgbClr val="5B6970"/>
                </a:solidFill>
                <a:latin typeface="Arial"/>
              </a:rPr>
              <a:t>4</a:t>
            </a:r>
          </a:p>
        </p:txBody>
      </p:sp>
      <p:sp>
        <p:nvSpPr>
          <p:cNvPr id="7" name="Rounded Rectangle 6"/>
          <p:cNvSpPr/>
          <p:nvPr/>
        </p:nvSpPr>
        <p:spPr>
          <a:xfrm>
            <a:off x="914400" y="1325880"/>
            <a:ext cx="3273552" cy="914400"/>
          </a:xfrm>
          <a:prstGeom prst="roundRect">
            <a:avLst/>
          </a:prstGeom>
          <a:solidFill>
            <a:srgbClr val="2D6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353312"/>
            <a:ext cx="3218688" cy="859536"/>
          </a:xfrm>
          <a:prstGeom prst="rect">
            <a:avLst/>
          </a:prstGeom>
          <a:noFill/>
        </p:spPr>
        <p:txBody>
          <a:bodyPr wrap="square" lIns="27432" rIns="27432" tIns="27432" bIns="27432" anchor="ctr">
            <a:spAutoFit/>
          </a:bodyPr>
          <a:lstStyle/>
          <a:p>
            <a:pPr algn="ctr">
              <a:spcAft>
                <a:spcPts val="0"/>
              </a:spcAft>
            </a:pPr>
            <a:r>
              <a:rPr sz="1800" b="1">
                <a:solidFill>
                  <a:srgbClr val="FFFFFF"/>
                </a:solidFill>
                <a:latin typeface="Arial"/>
              </a:rPr>
              <a:t>Predictive
maintenance</a:t>
            </a:r>
          </a:p>
        </p:txBody>
      </p:sp>
      <p:sp>
        <p:nvSpPr>
          <p:cNvPr id="9" name="Chevron 8"/>
          <p:cNvSpPr/>
          <p:nvPr/>
        </p:nvSpPr>
        <p:spPr>
          <a:xfrm>
            <a:off x="4224528" y="1664207"/>
            <a:ext cx="182880" cy="237744"/>
          </a:xfrm>
          <a:prstGeom prst="chevron">
            <a:avLst/>
          </a:prstGeom>
          <a:solidFill>
            <a:srgbClr val="5B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43984" y="1325880"/>
            <a:ext cx="3273552" cy="914400"/>
          </a:xfrm>
          <a:prstGeom prst="roundRect">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1353312"/>
            <a:ext cx="3218688" cy="859536"/>
          </a:xfrm>
          <a:prstGeom prst="rect">
            <a:avLst/>
          </a:prstGeom>
          <a:noFill/>
        </p:spPr>
        <p:txBody>
          <a:bodyPr wrap="square" lIns="27432" rIns="27432" tIns="27432" bIns="27432" anchor="ctr">
            <a:spAutoFit/>
          </a:bodyPr>
          <a:lstStyle/>
          <a:p>
            <a:pPr algn="ctr">
              <a:spcAft>
                <a:spcPts val="0"/>
              </a:spcAft>
            </a:pPr>
            <a:r>
              <a:rPr sz="1800" b="1">
                <a:solidFill>
                  <a:srgbClr val="FFFFFF"/>
                </a:solidFill>
                <a:latin typeface="Arial"/>
              </a:rPr>
              <a:t>Explainable
AI</a:t>
            </a:r>
          </a:p>
        </p:txBody>
      </p:sp>
      <p:sp>
        <p:nvSpPr>
          <p:cNvPr id="12" name="Chevron 11"/>
          <p:cNvSpPr/>
          <p:nvPr/>
        </p:nvSpPr>
        <p:spPr>
          <a:xfrm>
            <a:off x="7754112" y="1664207"/>
            <a:ext cx="182880" cy="237744"/>
          </a:xfrm>
          <a:prstGeom prst="chevron">
            <a:avLst/>
          </a:prstGeom>
          <a:solidFill>
            <a:srgbClr val="5B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73568" y="1325880"/>
            <a:ext cx="3273552" cy="914400"/>
          </a:xfrm>
          <a:prstGeom prst="round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01000" y="1353312"/>
            <a:ext cx="3218688" cy="859536"/>
          </a:xfrm>
          <a:prstGeom prst="rect">
            <a:avLst/>
          </a:prstGeom>
          <a:noFill/>
        </p:spPr>
        <p:txBody>
          <a:bodyPr wrap="square" lIns="27432" rIns="27432" tIns="27432" bIns="27432" anchor="ctr">
            <a:spAutoFit/>
          </a:bodyPr>
          <a:lstStyle/>
          <a:p>
            <a:pPr algn="ctr">
              <a:spcAft>
                <a:spcPts val="0"/>
              </a:spcAft>
            </a:pPr>
            <a:r>
              <a:rPr sz="1800" b="1">
                <a:solidFill>
                  <a:srgbClr val="FFFFFF"/>
                </a:solidFill>
                <a:latin typeface="Arial"/>
              </a:rPr>
              <a:t>Responsible
prototype</a:t>
            </a:r>
          </a:p>
        </p:txBody>
      </p:sp>
      <p:graphicFrame>
        <p:nvGraphicFramePr>
          <p:cNvPr id="15" name="Table 14"/>
          <p:cNvGraphicFramePr>
            <a:graphicFrameLocks noGrp="1"/>
          </p:cNvGraphicFramePr>
          <p:nvPr/>
        </p:nvGraphicFramePr>
        <p:xfrm>
          <a:off x="914400" y="2651760"/>
          <a:ext cx="10332720" cy="2971800"/>
        </p:xfrm>
        <a:graphic>
          <a:graphicData uri="http://schemas.openxmlformats.org/drawingml/2006/table">
            <a:tbl>
              <a:tblPr firstRow="1" bandRow="1">
                <a:tableStyleId>{5C22544A-7EE6-4342-B048-85BDC9FD1C3A}</a:tableStyleId>
              </a:tblPr>
              <a:tblGrid>
                <a:gridCol w="2743200"/>
                <a:gridCol w="7589520"/>
              </a:tblGrid>
              <a:tr h="495300">
                <a:tc>
                  <a:txBody>
                    <a:bodyPr wrap="square" anchor="ctr"/>
                    <a:lstStyle/>
                    <a:p>
                      <a:pPr algn="ctr">
                        <a:spcAft>
                          <a:spcPts val="0"/>
                        </a:spcAft>
                      </a:pPr>
                      <a:r>
                        <a:rPr sz="1300" b="1">
                          <a:solidFill>
                            <a:srgbClr val="FFFFFF"/>
                          </a:solidFill>
                          <a:latin typeface="Arial"/>
                        </a:rPr>
                        <a:t>Related work</a:t>
                      </a:r>
                    </a:p>
                  </a:txBody>
                  <a:tcPr marL="45720" marR="45720" marT="27432" marB="27432">
                    <a:solidFill>
                      <a:srgbClr val="237470"/>
                    </a:solidFill>
                  </a:tcPr>
                </a:tc>
                <a:tc>
                  <a:txBody>
                    <a:bodyPr wrap="square" anchor="ctr"/>
                    <a:lstStyle/>
                    <a:p>
                      <a:pPr algn="ctr">
                        <a:spcAft>
                          <a:spcPts val="0"/>
                        </a:spcAft>
                      </a:pPr>
                      <a:r>
                        <a:rPr sz="1300" b="1">
                          <a:solidFill>
                            <a:srgbClr val="FFFFFF"/>
                          </a:solidFill>
                          <a:latin typeface="Arial"/>
                        </a:rPr>
                        <a:t>Idea used in this project</a:t>
                      </a:r>
                    </a:p>
                  </a:txBody>
                  <a:tcPr marL="45720" marR="45720" marT="27432" marB="27432">
                    <a:solidFill>
                      <a:srgbClr val="237470"/>
                    </a:solidFill>
                  </a:tcPr>
                </a:tc>
              </a:tr>
              <a:tr h="495300">
                <a:tc>
                  <a:txBody>
                    <a:bodyPr wrap="square" anchor="ctr"/>
                    <a:lstStyle/>
                    <a:p>
                      <a:pPr algn="l">
                        <a:spcAft>
                          <a:spcPts val="0"/>
                        </a:spcAft>
                      </a:pPr>
                      <a:r>
                        <a:rPr sz="1300" b="0">
                          <a:solidFill>
                            <a:srgbClr val="202A30"/>
                          </a:solidFill>
                          <a:latin typeface="Arial"/>
                        </a:rPr>
                        <a:t>Matzka [1]</a:t>
                      </a:r>
                    </a:p>
                  </a:txBody>
                  <a:tcPr marL="45720" marR="45720" marT="27432" marB="27432">
                    <a:solidFill>
                      <a:srgbClr val="FFFFFF"/>
                    </a:solidFill>
                  </a:tcPr>
                </a:tc>
                <a:tc>
                  <a:txBody>
                    <a:bodyPr wrap="square" anchor="ctr"/>
                    <a:lstStyle/>
                    <a:p>
                      <a:pPr algn="ctr">
                        <a:spcAft>
                          <a:spcPts val="0"/>
                        </a:spcAft>
                      </a:pPr>
                      <a:r>
                        <a:rPr sz="1300" b="0">
                          <a:solidFill>
                            <a:srgbClr val="202A30"/>
                          </a:solidFill>
                          <a:latin typeface="Arial"/>
                        </a:rPr>
                        <a:t>AI4I dataset and explainable predictive maintenance</a:t>
                      </a:r>
                    </a:p>
                  </a:txBody>
                  <a:tcPr marL="45720" marR="45720" marT="27432" marB="27432">
                    <a:solidFill>
                      <a:srgbClr val="FFFFFF"/>
                    </a:solidFill>
                  </a:tcPr>
                </a:tc>
              </a:tr>
              <a:tr h="495300">
                <a:tc>
                  <a:txBody>
                    <a:bodyPr wrap="square" anchor="ctr"/>
                    <a:lstStyle/>
                    <a:p>
                      <a:pPr algn="l">
                        <a:spcAft>
                          <a:spcPts val="0"/>
                        </a:spcAft>
                      </a:pPr>
                      <a:r>
                        <a:rPr sz="1300" b="0">
                          <a:solidFill>
                            <a:srgbClr val="202A30"/>
                          </a:solidFill>
                          <a:latin typeface="Arial"/>
                        </a:rPr>
                        <a:t>Cummins et al. [2]</a:t>
                      </a:r>
                    </a:p>
                  </a:txBody>
                  <a:tcPr marL="45720" marR="45720" marT="27432" marB="27432">
                    <a:solidFill>
                      <a:srgbClr val="F2F6F7"/>
                    </a:solidFill>
                  </a:tcPr>
                </a:tc>
                <a:tc>
                  <a:txBody>
                    <a:bodyPr wrap="square" anchor="ctr"/>
                    <a:lstStyle/>
                    <a:p>
                      <a:pPr algn="ctr">
                        <a:spcAft>
                          <a:spcPts val="0"/>
                        </a:spcAft>
                      </a:pPr>
                      <a:r>
                        <a:rPr sz="1300" b="0">
                          <a:solidFill>
                            <a:srgbClr val="202A30"/>
                          </a:solidFill>
                          <a:latin typeface="Arial"/>
                        </a:rPr>
                        <a:t>Need for understandable maintenance outputs</a:t>
                      </a:r>
                    </a:p>
                  </a:txBody>
                  <a:tcPr marL="45720" marR="45720" marT="27432" marB="27432">
                    <a:solidFill>
                      <a:srgbClr val="F2F6F7"/>
                    </a:solidFill>
                  </a:tcPr>
                </a:tc>
              </a:tr>
              <a:tr h="495300">
                <a:tc>
                  <a:txBody>
                    <a:bodyPr wrap="square" anchor="ctr"/>
                    <a:lstStyle/>
                    <a:p>
                      <a:pPr algn="l">
                        <a:spcAft>
                          <a:spcPts val="0"/>
                        </a:spcAft>
                      </a:pPr>
                      <a:r>
                        <a:rPr sz="1300" b="0">
                          <a:solidFill>
                            <a:srgbClr val="202A30"/>
                          </a:solidFill>
                          <a:latin typeface="Arial"/>
                        </a:rPr>
                        <a:t>Liu et al. [3]</a:t>
                      </a:r>
                    </a:p>
                  </a:txBody>
                  <a:tcPr marL="45720" marR="45720" marT="27432" marB="27432">
                    <a:solidFill>
                      <a:srgbClr val="FFFFFF"/>
                    </a:solidFill>
                  </a:tcPr>
                </a:tc>
                <a:tc>
                  <a:txBody>
                    <a:bodyPr wrap="square" anchor="ctr"/>
                    <a:lstStyle/>
                    <a:p>
                      <a:pPr algn="ctr">
                        <a:spcAft>
                          <a:spcPts val="0"/>
                        </a:spcAft>
                      </a:pPr>
                      <a:r>
                        <a:rPr sz="1300" b="0">
                          <a:solidFill>
                            <a:srgbClr val="202A30"/>
                          </a:solidFill>
                          <a:latin typeface="Arial"/>
                        </a:rPr>
                        <a:t>Isolation Forest for unusual observations</a:t>
                      </a:r>
                    </a:p>
                  </a:txBody>
                  <a:tcPr marL="45720" marR="45720" marT="27432" marB="27432">
                    <a:solidFill>
                      <a:srgbClr val="FFFFFF"/>
                    </a:solidFill>
                  </a:tcPr>
                </a:tc>
              </a:tr>
              <a:tr h="495300">
                <a:tc>
                  <a:txBody>
                    <a:bodyPr wrap="square" anchor="ctr"/>
                    <a:lstStyle/>
                    <a:p>
                      <a:pPr algn="l">
                        <a:spcAft>
                          <a:spcPts val="0"/>
                        </a:spcAft>
                      </a:pPr>
                      <a:r>
                        <a:rPr sz="1300" b="0">
                          <a:solidFill>
                            <a:srgbClr val="202A30"/>
                          </a:solidFill>
                          <a:latin typeface="Arial"/>
                        </a:rPr>
                        <a:t>Ribeiro et al. [4]</a:t>
                      </a:r>
                    </a:p>
                  </a:txBody>
                  <a:tcPr marL="45720" marR="45720" marT="27432" marB="27432">
                    <a:solidFill>
                      <a:srgbClr val="F2F6F7"/>
                    </a:solidFill>
                  </a:tcPr>
                </a:tc>
                <a:tc>
                  <a:txBody>
                    <a:bodyPr wrap="square" anchor="ctr"/>
                    <a:lstStyle/>
                    <a:p>
                      <a:pPr algn="ctr">
                        <a:spcAft>
                          <a:spcPts val="0"/>
                        </a:spcAft>
                      </a:pPr>
                      <a:r>
                        <a:rPr sz="1300" b="0">
                          <a:solidFill>
                            <a:srgbClr val="202A30"/>
                          </a:solidFill>
                          <a:latin typeface="Arial"/>
                        </a:rPr>
                        <a:t>LIME local explanations</a:t>
                      </a:r>
                    </a:p>
                  </a:txBody>
                  <a:tcPr marL="45720" marR="45720" marT="27432" marB="27432">
                    <a:solidFill>
                      <a:srgbClr val="F2F6F7"/>
                    </a:solidFill>
                  </a:tcPr>
                </a:tc>
              </a:tr>
              <a:tr h="495300">
                <a:tc>
                  <a:txBody>
                    <a:bodyPr wrap="square" anchor="ctr"/>
                    <a:lstStyle/>
                    <a:p>
                      <a:pPr algn="l">
                        <a:spcAft>
                          <a:spcPts val="0"/>
                        </a:spcAft>
                      </a:pPr>
                      <a:r>
                        <a:rPr sz="1300" b="0">
                          <a:solidFill>
                            <a:srgbClr val="202A30"/>
                          </a:solidFill>
                          <a:latin typeface="Arial"/>
                        </a:rPr>
                        <a:t>Lundberg and Lee [5]</a:t>
                      </a:r>
                    </a:p>
                  </a:txBody>
                  <a:tcPr marL="45720" marR="45720" marT="27432" marB="27432">
                    <a:solidFill>
                      <a:srgbClr val="FFFFFF"/>
                    </a:solidFill>
                  </a:tcPr>
                </a:tc>
                <a:tc>
                  <a:txBody>
                    <a:bodyPr wrap="square" anchor="ctr"/>
                    <a:lstStyle/>
                    <a:p>
                      <a:pPr algn="ctr">
                        <a:spcAft>
                          <a:spcPts val="0"/>
                        </a:spcAft>
                      </a:pPr>
                      <a:r>
                        <a:rPr sz="1300" b="0">
                          <a:solidFill>
                            <a:srgbClr val="202A30"/>
                          </a:solidFill>
                          <a:latin typeface="Arial"/>
                        </a:rPr>
                        <a:t>SHAP additive feature contributions</a:t>
                      </a:r>
                    </a:p>
                  </a:txBody>
                  <a:tcPr marL="45720" marR="45720" marT="27432" marB="27432">
                    <a:solidFill>
                      <a:srgbClr val="FFFFFF"/>
                    </a:solidFill>
                  </a:tcPr>
                </a:tc>
              </a:tr>
            </a:tbl>
          </a:graphicData>
        </a:graphic>
      </p:graphicFrame>
      <p:sp>
        <p:nvSpPr>
          <p:cNvPr id="16" name="TextBox 15"/>
          <p:cNvSpPr txBox="1"/>
          <p:nvPr/>
        </p:nvSpPr>
        <p:spPr>
          <a:xfrm>
            <a:off x="932688" y="5870448"/>
            <a:ext cx="10241280" cy="228600"/>
          </a:xfrm>
          <a:prstGeom prst="rect">
            <a:avLst/>
          </a:prstGeom>
          <a:noFill/>
        </p:spPr>
        <p:txBody>
          <a:bodyPr wrap="square" lIns="27432" rIns="27432" tIns="27432" bIns="27432" anchor="t">
            <a:spAutoFit/>
          </a:bodyPr>
          <a:lstStyle/>
          <a:p>
            <a:pPr algn="ctr">
              <a:spcAft>
                <a:spcPts val="0"/>
              </a:spcAft>
            </a:pPr>
            <a:r>
              <a:rPr sz="1300" b="1">
                <a:solidFill>
                  <a:srgbClr val="237470"/>
                </a:solidFill>
                <a:latin typeface="Arial"/>
              </a:rPr>
              <a:t>Course-level contribution: integrate prediction, explanation, error analysis, and threshold consequences.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57200"/>
          </a:xfrm>
          <a:prstGeom prst="rect">
            <a:avLst/>
          </a:prstGeom>
          <a:noFill/>
        </p:spPr>
        <p:txBody>
          <a:bodyPr wrap="square" lIns="27432" rIns="27432" tIns="27432" bIns="27432" anchor="t">
            <a:spAutoFit/>
          </a:bodyPr>
          <a:lstStyle/>
          <a:p>
            <a:pPr algn="l">
              <a:spcAft>
                <a:spcPts val="0"/>
              </a:spcAft>
            </a:pPr>
            <a:r>
              <a:rPr sz="2500" b="1">
                <a:solidFill>
                  <a:srgbClr val="202A30"/>
                </a:solidFill>
                <a:latin typeface="Arial"/>
              </a:rPr>
              <a:t>Dataset and methodology</a:t>
            </a:r>
          </a:p>
        </p:txBody>
      </p:sp>
      <p:sp>
        <p:nvSpPr>
          <p:cNvPr id="3" name="Rectangle 2"/>
          <p:cNvSpPr/>
          <p:nvPr/>
        </p:nvSpPr>
        <p:spPr>
          <a:xfrm>
            <a:off x="566928" y="850392"/>
            <a:ext cx="640080" cy="45720"/>
          </a:xfrm>
          <a:prstGeom prst="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556248"/>
            <a:ext cx="5029200" cy="164592"/>
          </a:xfrm>
          <a:prstGeom prst="rect">
            <a:avLst/>
          </a:prstGeom>
          <a:noFill/>
        </p:spPr>
        <p:txBody>
          <a:bodyPr wrap="square" lIns="27432" rIns="27432" tIns="27432" bIns="27432" anchor="t">
            <a:spAutoFit/>
          </a:bodyPr>
          <a:lstStyle/>
          <a:p>
            <a:pPr algn="l">
              <a:spcAft>
                <a:spcPts val="0"/>
              </a:spcAft>
            </a:pPr>
            <a:r>
              <a:rPr sz="800" b="0">
                <a:solidFill>
                  <a:srgbClr val="5B6970"/>
                </a:solidFill>
                <a:latin typeface="Arial"/>
              </a:rPr>
              <a:t>Responsible and Explainable AI | University of Regina</a:t>
            </a:r>
          </a:p>
        </p:txBody>
      </p:sp>
      <p:sp>
        <p:nvSpPr>
          <p:cNvPr id="5" name="TextBox 4"/>
          <p:cNvSpPr txBox="1"/>
          <p:nvPr/>
        </p:nvSpPr>
        <p:spPr>
          <a:xfrm>
            <a:off x="11109960" y="6528816"/>
            <a:ext cx="502920" cy="182880"/>
          </a:xfrm>
          <a:prstGeom prst="rect">
            <a:avLst/>
          </a:prstGeom>
          <a:noFill/>
        </p:spPr>
        <p:txBody>
          <a:bodyPr wrap="square" lIns="27432" rIns="27432" tIns="27432" bIns="27432" anchor="t">
            <a:spAutoFit/>
          </a:bodyPr>
          <a:lstStyle/>
          <a:p>
            <a:pPr algn="r">
              <a:spcAft>
                <a:spcPts val="0"/>
              </a:spcAft>
            </a:pPr>
            <a:r>
              <a:rPr sz="900" b="1">
                <a:solidFill>
                  <a:srgbClr val="5B6970"/>
                </a:solidFill>
                <a:latin typeface="Arial"/>
              </a:rPr>
              <a:t>5</a:t>
            </a:r>
          </a:p>
        </p:txBody>
      </p:sp>
      <p:sp>
        <p:nvSpPr>
          <p:cNvPr id="6" name="Rounded Rectangle 5"/>
          <p:cNvSpPr/>
          <p:nvPr/>
        </p:nvSpPr>
        <p:spPr>
          <a:xfrm>
            <a:off x="658368" y="1078992"/>
            <a:ext cx="2011680" cy="868680"/>
          </a:xfrm>
          <a:prstGeom prst="roundRect">
            <a:avLst/>
          </a:prstGeom>
          <a:solidFill>
            <a:srgbClr val="FFFFFF"/>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19" y="1188719"/>
            <a:ext cx="1865376" cy="347472"/>
          </a:xfrm>
          <a:prstGeom prst="rect">
            <a:avLst/>
          </a:prstGeom>
          <a:noFill/>
        </p:spPr>
        <p:txBody>
          <a:bodyPr wrap="square" lIns="27432" rIns="27432" tIns="27432" bIns="27432" anchor="t">
            <a:spAutoFit/>
          </a:bodyPr>
          <a:lstStyle/>
          <a:p>
            <a:pPr algn="ctr">
              <a:spcAft>
                <a:spcPts val="0"/>
              </a:spcAft>
            </a:pPr>
            <a:r>
              <a:rPr sz="2200" b="1">
                <a:solidFill>
                  <a:srgbClr val="2D6FA4"/>
                </a:solidFill>
                <a:latin typeface="Arial"/>
              </a:rPr>
              <a:t>10,000</a:t>
            </a:r>
          </a:p>
        </p:txBody>
      </p:sp>
      <p:sp>
        <p:nvSpPr>
          <p:cNvPr id="8" name="TextBox 7"/>
          <p:cNvSpPr txBox="1"/>
          <p:nvPr/>
        </p:nvSpPr>
        <p:spPr>
          <a:xfrm>
            <a:off x="731519" y="1581912"/>
            <a:ext cx="1865376" cy="201168"/>
          </a:xfrm>
          <a:prstGeom prst="rect">
            <a:avLst/>
          </a:prstGeom>
          <a:noFill/>
        </p:spPr>
        <p:txBody>
          <a:bodyPr wrap="square" lIns="27432" rIns="27432" tIns="27432" bIns="27432" anchor="t">
            <a:spAutoFit/>
          </a:bodyPr>
          <a:lstStyle/>
          <a:p>
            <a:pPr algn="ctr">
              <a:spcAft>
                <a:spcPts val="0"/>
              </a:spcAft>
            </a:pPr>
            <a:r>
              <a:rPr sz="1000" b="0">
                <a:solidFill>
                  <a:srgbClr val="5B6970"/>
                </a:solidFill>
                <a:latin typeface="Arial"/>
              </a:rPr>
              <a:t>machine records</a:t>
            </a:r>
          </a:p>
        </p:txBody>
      </p:sp>
      <p:sp>
        <p:nvSpPr>
          <p:cNvPr id="9" name="Rounded Rectangle 8"/>
          <p:cNvSpPr/>
          <p:nvPr/>
        </p:nvSpPr>
        <p:spPr>
          <a:xfrm>
            <a:off x="2852928" y="1078992"/>
            <a:ext cx="2011680" cy="868680"/>
          </a:xfrm>
          <a:prstGeom prst="roundRect">
            <a:avLst/>
          </a:prstGeom>
          <a:solidFill>
            <a:srgbClr val="FFFFFF"/>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1188719"/>
            <a:ext cx="1865376" cy="347472"/>
          </a:xfrm>
          <a:prstGeom prst="rect">
            <a:avLst/>
          </a:prstGeom>
          <a:noFill/>
        </p:spPr>
        <p:txBody>
          <a:bodyPr wrap="square" lIns="27432" rIns="27432" tIns="27432" bIns="27432" anchor="t">
            <a:spAutoFit/>
          </a:bodyPr>
          <a:lstStyle/>
          <a:p>
            <a:pPr algn="ctr">
              <a:spcAft>
                <a:spcPts val="0"/>
              </a:spcAft>
            </a:pPr>
            <a:r>
              <a:rPr sz="2200" b="1">
                <a:solidFill>
                  <a:srgbClr val="B2433D"/>
                </a:solidFill>
                <a:latin typeface="Arial"/>
              </a:rPr>
              <a:t>339</a:t>
            </a:r>
          </a:p>
        </p:txBody>
      </p:sp>
      <p:sp>
        <p:nvSpPr>
          <p:cNvPr id="11" name="TextBox 10"/>
          <p:cNvSpPr txBox="1"/>
          <p:nvPr/>
        </p:nvSpPr>
        <p:spPr>
          <a:xfrm>
            <a:off x="2926080" y="1581912"/>
            <a:ext cx="1865376" cy="201168"/>
          </a:xfrm>
          <a:prstGeom prst="rect">
            <a:avLst/>
          </a:prstGeom>
          <a:noFill/>
        </p:spPr>
        <p:txBody>
          <a:bodyPr wrap="square" lIns="27432" rIns="27432" tIns="27432" bIns="27432" anchor="t">
            <a:spAutoFit/>
          </a:bodyPr>
          <a:lstStyle/>
          <a:p>
            <a:pPr algn="ctr">
              <a:spcAft>
                <a:spcPts val="0"/>
              </a:spcAft>
            </a:pPr>
            <a:r>
              <a:rPr sz="1000" b="0">
                <a:solidFill>
                  <a:srgbClr val="5B6970"/>
                </a:solidFill>
                <a:latin typeface="Arial"/>
              </a:rPr>
              <a:t>failure records</a:t>
            </a:r>
          </a:p>
        </p:txBody>
      </p:sp>
      <p:sp>
        <p:nvSpPr>
          <p:cNvPr id="12" name="Rounded Rectangle 11"/>
          <p:cNvSpPr/>
          <p:nvPr/>
        </p:nvSpPr>
        <p:spPr>
          <a:xfrm>
            <a:off x="5047488" y="1078992"/>
            <a:ext cx="2011680" cy="868680"/>
          </a:xfrm>
          <a:prstGeom prst="roundRect">
            <a:avLst/>
          </a:prstGeom>
          <a:solidFill>
            <a:srgbClr val="FFFFFF"/>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1188719"/>
            <a:ext cx="1865376" cy="347472"/>
          </a:xfrm>
          <a:prstGeom prst="rect">
            <a:avLst/>
          </a:prstGeom>
          <a:noFill/>
        </p:spPr>
        <p:txBody>
          <a:bodyPr wrap="square" lIns="27432" rIns="27432" tIns="27432" bIns="27432" anchor="t">
            <a:spAutoFit/>
          </a:bodyPr>
          <a:lstStyle/>
          <a:p>
            <a:pPr algn="ctr">
              <a:spcAft>
                <a:spcPts val="0"/>
              </a:spcAft>
            </a:pPr>
            <a:r>
              <a:rPr sz="2200" b="1">
                <a:solidFill>
                  <a:srgbClr val="E27E2C"/>
                </a:solidFill>
                <a:latin typeface="Arial"/>
              </a:rPr>
              <a:t>3.39%</a:t>
            </a:r>
          </a:p>
        </p:txBody>
      </p:sp>
      <p:sp>
        <p:nvSpPr>
          <p:cNvPr id="14" name="TextBox 13"/>
          <p:cNvSpPr txBox="1"/>
          <p:nvPr/>
        </p:nvSpPr>
        <p:spPr>
          <a:xfrm>
            <a:off x="5120640" y="1581912"/>
            <a:ext cx="1865376" cy="201168"/>
          </a:xfrm>
          <a:prstGeom prst="rect">
            <a:avLst/>
          </a:prstGeom>
          <a:noFill/>
        </p:spPr>
        <p:txBody>
          <a:bodyPr wrap="square" lIns="27432" rIns="27432" tIns="27432" bIns="27432" anchor="t">
            <a:spAutoFit/>
          </a:bodyPr>
          <a:lstStyle/>
          <a:p>
            <a:pPr algn="ctr">
              <a:spcAft>
                <a:spcPts val="0"/>
              </a:spcAft>
            </a:pPr>
            <a:r>
              <a:rPr sz="1000" b="0">
                <a:solidFill>
                  <a:srgbClr val="5B6970"/>
                </a:solidFill>
                <a:latin typeface="Arial"/>
              </a:rPr>
              <a:t>failure rate</a:t>
            </a:r>
          </a:p>
        </p:txBody>
      </p:sp>
      <p:sp>
        <p:nvSpPr>
          <p:cNvPr id="15" name="Rounded Rectangle 14"/>
          <p:cNvSpPr/>
          <p:nvPr/>
        </p:nvSpPr>
        <p:spPr>
          <a:xfrm>
            <a:off x="7242048" y="1078992"/>
            <a:ext cx="2011680" cy="868680"/>
          </a:xfrm>
          <a:prstGeom prst="roundRect">
            <a:avLst/>
          </a:prstGeom>
          <a:solidFill>
            <a:srgbClr val="FFFFFF"/>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1188719"/>
            <a:ext cx="1865376" cy="347472"/>
          </a:xfrm>
          <a:prstGeom prst="rect">
            <a:avLst/>
          </a:prstGeom>
          <a:noFill/>
        </p:spPr>
        <p:txBody>
          <a:bodyPr wrap="square" lIns="27432" rIns="27432" tIns="27432" bIns="27432" anchor="t">
            <a:spAutoFit/>
          </a:bodyPr>
          <a:lstStyle/>
          <a:p>
            <a:pPr algn="ctr">
              <a:spcAft>
                <a:spcPts val="0"/>
              </a:spcAft>
            </a:pPr>
            <a:r>
              <a:rPr sz="2200" b="1">
                <a:solidFill>
                  <a:srgbClr val="237470"/>
                </a:solidFill>
                <a:latin typeface="Arial"/>
              </a:rPr>
              <a:t>80 / 20</a:t>
            </a:r>
          </a:p>
        </p:txBody>
      </p:sp>
      <p:sp>
        <p:nvSpPr>
          <p:cNvPr id="17" name="TextBox 16"/>
          <p:cNvSpPr txBox="1"/>
          <p:nvPr/>
        </p:nvSpPr>
        <p:spPr>
          <a:xfrm>
            <a:off x="7315200" y="1581912"/>
            <a:ext cx="1865376" cy="201168"/>
          </a:xfrm>
          <a:prstGeom prst="rect">
            <a:avLst/>
          </a:prstGeom>
          <a:noFill/>
        </p:spPr>
        <p:txBody>
          <a:bodyPr wrap="square" lIns="27432" rIns="27432" tIns="27432" bIns="27432" anchor="t">
            <a:spAutoFit/>
          </a:bodyPr>
          <a:lstStyle/>
          <a:p>
            <a:pPr algn="ctr">
              <a:spcAft>
                <a:spcPts val="0"/>
              </a:spcAft>
            </a:pPr>
            <a:r>
              <a:rPr sz="1000" b="0">
                <a:solidFill>
                  <a:srgbClr val="5B6970"/>
                </a:solidFill>
                <a:latin typeface="Arial"/>
              </a:rPr>
              <a:t>train-test split</a:t>
            </a:r>
          </a:p>
        </p:txBody>
      </p:sp>
      <p:sp>
        <p:nvSpPr>
          <p:cNvPr id="18" name="Rounded Rectangle 17"/>
          <p:cNvSpPr/>
          <p:nvPr/>
        </p:nvSpPr>
        <p:spPr>
          <a:xfrm>
            <a:off x="9436608" y="1078992"/>
            <a:ext cx="2011680" cy="868680"/>
          </a:xfrm>
          <a:prstGeom prst="roundRect">
            <a:avLst/>
          </a:prstGeom>
          <a:solidFill>
            <a:srgbClr val="FFFFFF"/>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0" y="1188719"/>
            <a:ext cx="1865376" cy="347472"/>
          </a:xfrm>
          <a:prstGeom prst="rect">
            <a:avLst/>
          </a:prstGeom>
          <a:noFill/>
        </p:spPr>
        <p:txBody>
          <a:bodyPr wrap="square" lIns="27432" rIns="27432" tIns="27432" bIns="27432" anchor="t">
            <a:spAutoFit/>
          </a:bodyPr>
          <a:lstStyle/>
          <a:p>
            <a:pPr algn="ctr">
              <a:spcAft>
                <a:spcPts val="0"/>
              </a:spcAft>
            </a:pPr>
            <a:r>
              <a:rPr sz="2200" b="1">
                <a:solidFill>
                  <a:srgbClr val="368455"/>
                </a:solidFill>
                <a:latin typeface="Arial"/>
              </a:rPr>
              <a:t>6</a:t>
            </a:r>
          </a:p>
        </p:txBody>
      </p:sp>
      <p:sp>
        <p:nvSpPr>
          <p:cNvPr id="20" name="TextBox 19"/>
          <p:cNvSpPr txBox="1"/>
          <p:nvPr/>
        </p:nvSpPr>
        <p:spPr>
          <a:xfrm>
            <a:off x="9509760" y="1581912"/>
            <a:ext cx="1865376" cy="201168"/>
          </a:xfrm>
          <a:prstGeom prst="rect">
            <a:avLst/>
          </a:prstGeom>
          <a:noFill/>
        </p:spPr>
        <p:txBody>
          <a:bodyPr wrap="square" lIns="27432" rIns="27432" tIns="27432" bIns="27432" anchor="t">
            <a:spAutoFit/>
          </a:bodyPr>
          <a:lstStyle/>
          <a:p>
            <a:pPr algn="ctr">
              <a:spcAft>
                <a:spcPts val="0"/>
              </a:spcAft>
            </a:pPr>
            <a:r>
              <a:rPr sz="1000" b="0">
                <a:solidFill>
                  <a:srgbClr val="5B6970"/>
                </a:solidFill>
                <a:latin typeface="Arial"/>
              </a:rPr>
              <a:t>leakage-safe inputs</a:t>
            </a:r>
          </a:p>
        </p:txBody>
      </p:sp>
      <p:sp>
        <p:nvSpPr>
          <p:cNvPr id="21" name="TextBox 20"/>
          <p:cNvSpPr txBox="1"/>
          <p:nvPr/>
        </p:nvSpPr>
        <p:spPr>
          <a:xfrm>
            <a:off x="713232" y="2240280"/>
            <a:ext cx="10789920" cy="274320"/>
          </a:xfrm>
          <a:prstGeom prst="rect">
            <a:avLst/>
          </a:prstGeom>
          <a:noFill/>
        </p:spPr>
        <p:txBody>
          <a:bodyPr wrap="square" lIns="27432" rIns="27432" tIns="27432" bIns="27432" anchor="t">
            <a:spAutoFit/>
          </a:bodyPr>
          <a:lstStyle/>
          <a:p>
            <a:pPr algn="ctr">
              <a:spcAft>
                <a:spcPts val="0"/>
              </a:spcAft>
            </a:pPr>
            <a:r>
              <a:rPr sz="1200" b="1">
                <a:solidFill>
                  <a:srgbClr val="5B6970"/>
                </a:solidFill>
                <a:latin typeface="Arial"/>
              </a:rPr>
              <a:t>EXPERIMENTAL WORKFLOW</a:t>
            </a:r>
          </a:p>
        </p:txBody>
      </p:sp>
      <p:sp>
        <p:nvSpPr>
          <p:cNvPr id="22" name="Rounded Rectangle 21"/>
          <p:cNvSpPr/>
          <p:nvPr/>
        </p:nvSpPr>
        <p:spPr>
          <a:xfrm>
            <a:off x="621792" y="2651760"/>
            <a:ext cx="1615440" cy="749808"/>
          </a:xfrm>
          <a:prstGeom prst="roundRect">
            <a:avLst/>
          </a:prstGeom>
          <a:solidFill>
            <a:srgbClr val="2D6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679191"/>
            <a:ext cx="1560576" cy="694944"/>
          </a:xfrm>
          <a:prstGeom prst="rect">
            <a:avLst/>
          </a:prstGeom>
          <a:noFill/>
        </p:spPr>
        <p:txBody>
          <a:bodyPr wrap="square" lIns="27432" rIns="27432" tIns="27432" bIns="27432" anchor="ctr">
            <a:spAutoFit/>
          </a:bodyPr>
          <a:lstStyle/>
          <a:p>
            <a:pPr algn="ctr">
              <a:spcAft>
                <a:spcPts val="0"/>
              </a:spcAft>
            </a:pPr>
            <a:r>
              <a:rPr sz="1200" b="1">
                <a:solidFill>
                  <a:srgbClr val="FFFFFF"/>
                </a:solidFill>
                <a:latin typeface="Arial"/>
              </a:rPr>
              <a:t>Explore</a:t>
            </a:r>
          </a:p>
        </p:txBody>
      </p:sp>
      <p:sp>
        <p:nvSpPr>
          <p:cNvPr id="24" name="Chevron 23"/>
          <p:cNvSpPr/>
          <p:nvPr/>
        </p:nvSpPr>
        <p:spPr>
          <a:xfrm>
            <a:off x="2273808" y="2907792"/>
            <a:ext cx="182880" cy="237744"/>
          </a:xfrm>
          <a:prstGeom prst="chevron">
            <a:avLst/>
          </a:prstGeom>
          <a:solidFill>
            <a:srgbClr val="5B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493264" y="2651760"/>
            <a:ext cx="1615440" cy="749808"/>
          </a:xfrm>
          <a:prstGeom prst="roundRect">
            <a:avLst/>
          </a:prstGeom>
          <a:solidFill>
            <a:srgbClr val="2D6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20696" y="2679191"/>
            <a:ext cx="1560576" cy="694944"/>
          </a:xfrm>
          <a:prstGeom prst="rect">
            <a:avLst/>
          </a:prstGeom>
          <a:noFill/>
        </p:spPr>
        <p:txBody>
          <a:bodyPr wrap="square" lIns="27432" rIns="27432" tIns="27432" bIns="27432" anchor="ctr">
            <a:spAutoFit/>
          </a:bodyPr>
          <a:lstStyle/>
          <a:p>
            <a:pPr algn="ctr">
              <a:spcAft>
                <a:spcPts val="0"/>
              </a:spcAft>
            </a:pPr>
            <a:r>
              <a:rPr sz="1200" b="1">
                <a:solidFill>
                  <a:srgbClr val="FFFFFF"/>
                </a:solidFill>
                <a:latin typeface="Arial"/>
              </a:rPr>
              <a:t>Prepare</a:t>
            </a:r>
          </a:p>
        </p:txBody>
      </p:sp>
      <p:sp>
        <p:nvSpPr>
          <p:cNvPr id="27" name="Chevron 26"/>
          <p:cNvSpPr/>
          <p:nvPr/>
        </p:nvSpPr>
        <p:spPr>
          <a:xfrm>
            <a:off x="4145280" y="2907792"/>
            <a:ext cx="182880" cy="237744"/>
          </a:xfrm>
          <a:prstGeom prst="chevron">
            <a:avLst/>
          </a:prstGeom>
          <a:solidFill>
            <a:srgbClr val="5B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364736" y="2651760"/>
            <a:ext cx="1615440" cy="749808"/>
          </a:xfrm>
          <a:prstGeom prst="roundRect">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92168" y="2679191"/>
            <a:ext cx="1560576" cy="694944"/>
          </a:xfrm>
          <a:prstGeom prst="rect">
            <a:avLst/>
          </a:prstGeom>
          <a:noFill/>
        </p:spPr>
        <p:txBody>
          <a:bodyPr wrap="square" lIns="27432" rIns="27432" tIns="27432" bIns="27432" anchor="ctr">
            <a:spAutoFit/>
          </a:bodyPr>
          <a:lstStyle/>
          <a:p>
            <a:pPr algn="ctr">
              <a:spcAft>
                <a:spcPts val="0"/>
              </a:spcAft>
            </a:pPr>
            <a:r>
              <a:rPr sz="1200" b="1">
                <a:solidFill>
                  <a:srgbClr val="FFFFFF"/>
                </a:solidFill>
                <a:latin typeface="Arial"/>
              </a:rPr>
              <a:t>Detect
anomalies</a:t>
            </a:r>
          </a:p>
        </p:txBody>
      </p:sp>
      <p:sp>
        <p:nvSpPr>
          <p:cNvPr id="30" name="Chevron 29"/>
          <p:cNvSpPr/>
          <p:nvPr/>
        </p:nvSpPr>
        <p:spPr>
          <a:xfrm>
            <a:off x="6016752" y="2907792"/>
            <a:ext cx="182880" cy="237744"/>
          </a:xfrm>
          <a:prstGeom prst="chevron">
            <a:avLst/>
          </a:prstGeom>
          <a:solidFill>
            <a:srgbClr val="5B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36208" y="2651760"/>
            <a:ext cx="1615440" cy="749808"/>
          </a:xfrm>
          <a:prstGeom prst="roundRect">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2679191"/>
            <a:ext cx="1560576" cy="694944"/>
          </a:xfrm>
          <a:prstGeom prst="rect">
            <a:avLst/>
          </a:prstGeom>
          <a:noFill/>
        </p:spPr>
        <p:txBody>
          <a:bodyPr wrap="square" lIns="27432" rIns="27432" tIns="27432" bIns="27432" anchor="ctr">
            <a:spAutoFit/>
          </a:bodyPr>
          <a:lstStyle/>
          <a:p>
            <a:pPr algn="ctr">
              <a:spcAft>
                <a:spcPts val="0"/>
              </a:spcAft>
            </a:pPr>
            <a:r>
              <a:rPr sz="1200" b="1">
                <a:solidFill>
                  <a:srgbClr val="FFFFFF"/>
                </a:solidFill>
                <a:latin typeface="Arial"/>
              </a:rPr>
              <a:t>Classify
failures</a:t>
            </a:r>
          </a:p>
        </p:txBody>
      </p:sp>
      <p:sp>
        <p:nvSpPr>
          <p:cNvPr id="33" name="Chevron 32"/>
          <p:cNvSpPr/>
          <p:nvPr/>
        </p:nvSpPr>
        <p:spPr>
          <a:xfrm>
            <a:off x="7888223" y="2907792"/>
            <a:ext cx="182880" cy="237744"/>
          </a:xfrm>
          <a:prstGeom prst="chevron">
            <a:avLst/>
          </a:prstGeom>
          <a:solidFill>
            <a:srgbClr val="5B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107680" y="2651760"/>
            <a:ext cx="1615440" cy="749808"/>
          </a:xfrm>
          <a:prstGeom prst="round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35112" y="2679191"/>
            <a:ext cx="1560576" cy="694944"/>
          </a:xfrm>
          <a:prstGeom prst="rect">
            <a:avLst/>
          </a:prstGeom>
          <a:noFill/>
        </p:spPr>
        <p:txBody>
          <a:bodyPr wrap="square" lIns="27432" rIns="27432" tIns="27432" bIns="27432" anchor="ctr">
            <a:spAutoFit/>
          </a:bodyPr>
          <a:lstStyle/>
          <a:p>
            <a:pPr algn="ctr">
              <a:spcAft>
                <a:spcPts val="0"/>
              </a:spcAft>
            </a:pPr>
            <a:r>
              <a:rPr sz="1200" b="1">
                <a:solidFill>
                  <a:srgbClr val="FFFFFF"/>
                </a:solidFill>
                <a:latin typeface="Arial"/>
              </a:rPr>
              <a:t>Study
relationships</a:t>
            </a:r>
          </a:p>
        </p:txBody>
      </p:sp>
      <p:sp>
        <p:nvSpPr>
          <p:cNvPr id="36" name="Chevron 35"/>
          <p:cNvSpPr/>
          <p:nvPr/>
        </p:nvSpPr>
        <p:spPr>
          <a:xfrm>
            <a:off x="9759695" y="2907792"/>
            <a:ext cx="182880" cy="237744"/>
          </a:xfrm>
          <a:prstGeom prst="chevron">
            <a:avLst/>
          </a:prstGeom>
          <a:solidFill>
            <a:srgbClr val="5B69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979152" y="2651760"/>
            <a:ext cx="1615440" cy="749808"/>
          </a:xfrm>
          <a:prstGeom prst="round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06584" y="2679191"/>
            <a:ext cx="1560576" cy="694944"/>
          </a:xfrm>
          <a:prstGeom prst="rect">
            <a:avLst/>
          </a:prstGeom>
          <a:noFill/>
        </p:spPr>
        <p:txBody>
          <a:bodyPr wrap="square" lIns="27432" rIns="27432" tIns="27432" bIns="27432" anchor="ctr">
            <a:spAutoFit/>
          </a:bodyPr>
          <a:lstStyle/>
          <a:p>
            <a:pPr algn="ctr">
              <a:spcAft>
                <a:spcPts val="0"/>
              </a:spcAft>
            </a:pPr>
            <a:r>
              <a:rPr sz="1200" b="1">
                <a:solidFill>
                  <a:srgbClr val="FFFFFF"/>
                </a:solidFill>
                <a:latin typeface="Arial"/>
              </a:rPr>
              <a:t>Explain
results</a:t>
            </a:r>
          </a:p>
        </p:txBody>
      </p:sp>
      <p:sp>
        <p:nvSpPr>
          <p:cNvPr id="39" name="Rounded Rectangle 38"/>
          <p:cNvSpPr/>
          <p:nvPr/>
        </p:nvSpPr>
        <p:spPr>
          <a:xfrm>
            <a:off x="658368" y="3822191"/>
            <a:ext cx="5394960" cy="1554480"/>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96112" y="4023360"/>
            <a:ext cx="1234440" cy="320040"/>
          </a:xfrm>
          <a:prstGeom prst="roundRect">
            <a:avLst/>
          </a:prstGeom>
          <a:solidFill>
            <a:srgbClr val="2D6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6112" y="4032504"/>
            <a:ext cx="1234440"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INPUTS</a:t>
            </a:r>
          </a:p>
        </p:txBody>
      </p:sp>
      <p:sp>
        <p:nvSpPr>
          <p:cNvPr id="42" name="TextBox 41"/>
          <p:cNvSpPr txBox="1"/>
          <p:nvPr/>
        </p:nvSpPr>
        <p:spPr>
          <a:xfrm>
            <a:off x="914400" y="4471416"/>
            <a:ext cx="4892040" cy="594360"/>
          </a:xfrm>
          <a:prstGeom prst="rect">
            <a:avLst/>
          </a:prstGeom>
          <a:noFill/>
        </p:spPr>
        <p:txBody>
          <a:bodyPr wrap="square" lIns="27432" rIns="27432" tIns="27432" bIns="27432" anchor="t">
            <a:spAutoFit/>
          </a:bodyPr>
          <a:lstStyle/>
          <a:p>
            <a:pPr algn="ctr">
              <a:spcAft>
                <a:spcPts val="0"/>
              </a:spcAft>
            </a:pPr>
            <a:r>
              <a:rPr sz="1400" b="1">
                <a:solidFill>
                  <a:srgbClr val="202A30"/>
                </a:solidFill>
                <a:latin typeface="Arial"/>
              </a:rPr>
              <a:t>Machine type | Air temperature | Process temperature
Rotational speed | Torque | Tool wear</a:t>
            </a:r>
          </a:p>
        </p:txBody>
      </p:sp>
      <p:sp>
        <p:nvSpPr>
          <p:cNvPr id="43" name="Rounded Rectangle 42"/>
          <p:cNvSpPr/>
          <p:nvPr/>
        </p:nvSpPr>
        <p:spPr>
          <a:xfrm>
            <a:off x="6236208" y="3822191"/>
            <a:ext cx="5303520" cy="1554480"/>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473952" y="4023360"/>
            <a:ext cx="1444752" cy="320040"/>
          </a:xfrm>
          <a:prstGeom prst="round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73952" y="4032504"/>
            <a:ext cx="1444752"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SAFE DESIGN</a:t>
            </a:r>
          </a:p>
        </p:txBody>
      </p:sp>
      <p:sp>
        <p:nvSpPr>
          <p:cNvPr id="46" name="Oval 45"/>
          <p:cNvSpPr/>
          <p:nvPr/>
        </p:nvSpPr>
        <p:spPr>
          <a:xfrm>
            <a:off x="6473952" y="4581144"/>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56832" y="4480560"/>
            <a:ext cx="4526280" cy="448056"/>
          </a:xfrm>
          <a:prstGeom prst="rect">
            <a:avLst/>
          </a:prstGeom>
          <a:noFill/>
        </p:spPr>
        <p:txBody>
          <a:bodyPr wrap="square" lIns="27432" rIns="27432" tIns="27432" bIns="27432" anchor="t">
            <a:spAutoFit/>
          </a:bodyPr>
          <a:lstStyle/>
          <a:p>
            <a:pPr algn="l">
              <a:spcAft>
                <a:spcPts val="0"/>
              </a:spcAft>
            </a:pPr>
            <a:r>
              <a:rPr sz="1400" b="0">
                <a:solidFill>
                  <a:srgbClr val="202A30"/>
                </a:solidFill>
                <a:latin typeface="Arial"/>
              </a:rPr>
              <a:t>Failure-mode columns excluded to prevent leakage</a:t>
            </a:r>
          </a:p>
        </p:txBody>
      </p:sp>
      <p:sp>
        <p:nvSpPr>
          <p:cNvPr id="48" name="Oval 47"/>
          <p:cNvSpPr/>
          <p:nvPr/>
        </p:nvSpPr>
        <p:spPr>
          <a:xfrm>
            <a:off x="6473952" y="5056632"/>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56832" y="4956048"/>
            <a:ext cx="4526280" cy="448056"/>
          </a:xfrm>
          <a:prstGeom prst="rect">
            <a:avLst/>
          </a:prstGeom>
          <a:noFill/>
        </p:spPr>
        <p:txBody>
          <a:bodyPr wrap="square" lIns="27432" rIns="27432" tIns="27432" bIns="27432" anchor="t">
            <a:spAutoFit/>
          </a:bodyPr>
          <a:lstStyle/>
          <a:p>
            <a:pPr algn="l">
              <a:spcAft>
                <a:spcPts val="0"/>
              </a:spcAft>
            </a:pPr>
            <a:r>
              <a:rPr sz="1400" b="0">
                <a:solidFill>
                  <a:srgbClr val="202A30"/>
                </a:solidFill>
                <a:latin typeface="Arial"/>
              </a:rPr>
              <a:t>Stratification preserved the rare failure ratio</a:t>
            </a:r>
          </a:p>
        </p:txBody>
      </p:sp>
      <p:sp>
        <p:nvSpPr>
          <p:cNvPr id="50" name="TextBox 49"/>
          <p:cNvSpPr txBox="1"/>
          <p:nvPr/>
        </p:nvSpPr>
        <p:spPr>
          <a:xfrm>
            <a:off x="713232" y="5742432"/>
            <a:ext cx="10789920" cy="256032"/>
          </a:xfrm>
          <a:prstGeom prst="rect">
            <a:avLst/>
          </a:prstGeom>
          <a:noFill/>
        </p:spPr>
        <p:txBody>
          <a:bodyPr wrap="square" lIns="27432" rIns="27432" tIns="27432" bIns="27432" anchor="t">
            <a:spAutoFit/>
          </a:bodyPr>
          <a:lstStyle/>
          <a:p>
            <a:pPr algn="ctr">
              <a:spcAft>
                <a:spcPts val="0"/>
              </a:spcAft>
            </a:pPr>
            <a:r>
              <a:rPr sz="1200" b="1">
                <a:solidFill>
                  <a:srgbClr val="5B6970"/>
                </a:solidFill>
                <a:latin typeface="Arial"/>
              </a:rPr>
              <a:t>Tools: Python | Jupyter | pandas | scikit-learn | Matplotlib | SHAP | LIME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57200"/>
          </a:xfrm>
          <a:prstGeom prst="rect">
            <a:avLst/>
          </a:prstGeom>
          <a:noFill/>
        </p:spPr>
        <p:txBody>
          <a:bodyPr wrap="square" lIns="27432" rIns="27432" tIns="27432" bIns="27432" anchor="t">
            <a:spAutoFit/>
          </a:bodyPr>
          <a:lstStyle/>
          <a:p>
            <a:pPr algn="l">
              <a:spcAft>
                <a:spcPts val="0"/>
              </a:spcAft>
            </a:pPr>
            <a:r>
              <a:rPr sz="2500" b="1">
                <a:solidFill>
                  <a:srgbClr val="202A30"/>
                </a:solidFill>
                <a:latin typeface="Arial"/>
              </a:rPr>
              <a:t>Anomaly detection results</a:t>
            </a:r>
          </a:p>
        </p:txBody>
      </p:sp>
      <p:sp>
        <p:nvSpPr>
          <p:cNvPr id="3" name="Rectangle 2"/>
          <p:cNvSpPr/>
          <p:nvPr/>
        </p:nvSpPr>
        <p:spPr>
          <a:xfrm>
            <a:off x="566928" y="850392"/>
            <a:ext cx="640080" cy="45720"/>
          </a:xfrm>
          <a:prstGeom prst="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740664"/>
            <a:ext cx="9784080" cy="256032"/>
          </a:xfrm>
          <a:prstGeom prst="rect">
            <a:avLst/>
          </a:prstGeom>
          <a:noFill/>
        </p:spPr>
        <p:txBody>
          <a:bodyPr wrap="square" lIns="27432" rIns="27432" tIns="27432" bIns="27432" anchor="t">
            <a:spAutoFit/>
          </a:bodyPr>
          <a:lstStyle/>
          <a:p>
            <a:pPr algn="l">
              <a:spcAft>
                <a:spcPts val="0"/>
              </a:spcAft>
            </a:pPr>
            <a:r>
              <a:rPr sz="1000" b="0">
                <a:solidFill>
                  <a:srgbClr val="5B6970"/>
                </a:solidFill>
                <a:latin typeface="Arial"/>
              </a:rPr>
              <a:t>Question: Does this record look unusual?</a:t>
            </a:r>
          </a:p>
        </p:txBody>
      </p:sp>
      <p:sp>
        <p:nvSpPr>
          <p:cNvPr id="5" name="TextBox 4"/>
          <p:cNvSpPr txBox="1"/>
          <p:nvPr/>
        </p:nvSpPr>
        <p:spPr>
          <a:xfrm>
            <a:off x="566928" y="6556248"/>
            <a:ext cx="5029200" cy="164592"/>
          </a:xfrm>
          <a:prstGeom prst="rect">
            <a:avLst/>
          </a:prstGeom>
          <a:noFill/>
        </p:spPr>
        <p:txBody>
          <a:bodyPr wrap="square" lIns="27432" rIns="27432" tIns="27432" bIns="27432" anchor="t">
            <a:spAutoFit/>
          </a:bodyPr>
          <a:lstStyle/>
          <a:p>
            <a:pPr algn="l">
              <a:spcAft>
                <a:spcPts val="0"/>
              </a:spcAft>
            </a:pPr>
            <a:r>
              <a:rPr sz="800" b="0">
                <a:solidFill>
                  <a:srgbClr val="5B6970"/>
                </a:solidFill>
                <a:latin typeface="Arial"/>
              </a:rPr>
              <a:t>Responsible and Explainable AI | University of Regina</a:t>
            </a:r>
          </a:p>
        </p:txBody>
      </p:sp>
      <p:sp>
        <p:nvSpPr>
          <p:cNvPr id="6" name="TextBox 5"/>
          <p:cNvSpPr txBox="1"/>
          <p:nvPr/>
        </p:nvSpPr>
        <p:spPr>
          <a:xfrm>
            <a:off x="11109960" y="6528816"/>
            <a:ext cx="502920" cy="182880"/>
          </a:xfrm>
          <a:prstGeom prst="rect">
            <a:avLst/>
          </a:prstGeom>
          <a:noFill/>
        </p:spPr>
        <p:txBody>
          <a:bodyPr wrap="square" lIns="27432" rIns="27432" tIns="27432" bIns="27432" anchor="t">
            <a:spAutoFit/>
          </a:bodyPr>
          <a:lstStyle/>
          <a:p>
            <a:pPr algn="r">
              <a:spcAft>
                <a:spcPts val="0"/>
              </a:spcAft>
            </a:pPr>
            <a:r>
              <a:rPr sz="900" b="1">
                <a:solidFill>
                  <a:srgbClr val="5B6970"/>
                </a:solidFill>
                <a:latin typeface="Arial"/>
              </a:rPr>
              <a:t>6</a:t>
            </a:r>
          </a:p>
        </p:txBody>
      </p:sp>
      <p:pic>
        <p:nvPicPr>
          <p:cNvPr id="7" name="Picture 6" descr="anomaly_score_distribution.png"/>
          <p:cNvPicPr>
            <a:picLocks noChangeAspect="1"/>
          </p:cNvPicPr>
          <p:nvPr/>
        </p:nvPicPr>
        <p:blipFill>
          <a:blip r:embed="rId2"/>
          <a:stretch>
            <a:fillRect/>
          </a:stretch>
        </p:blipFill>
        <p:spPr>
          <a:xfrm>
            <a:off x="566928" y="1374001"/>
            <a:ext cx="7452360" cy="4612916"/>
          </a:xfrm>
          <a:prstGeom prst="rect">
            <a:avLst/>
          </a:prstGeom>
        </p:spPr>
      </p:pic>
      <p:sp>
        <p:nvSpPr>
          <p:cNvPr id="8" name="Rounded Rectangle 7"/>
          <p:cNvSpPr/>
          <p:nvPr/>
        </p:nvSpPr>
        <p:spPr>
          <a:xfrm>
            <a:off x="8156448" y="1225296"/>
            <a:ext cx="3429000" cy="4443984"/>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0" y="1481328"/>
            <a:ext cx="1325880" cy="320040"/>
          </a:xfrm>
          <a:prstGeom prst="roundRect">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490472"/>
            <a:ext cx="1325880"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RESULTS</a:t>
            </a:r>
          </a:p>
        </p:txBody>
      </p:sp>
      <p:graphicFrame>
        <p:nvGraphicFramePr>
          <p:cNvPr id="11" name="Table 10"/>
          <p:cNvGraphicFramePr>
            <a:graphicFrameLocks noGrp="1"/>
          </p:cNvGraphicFramePr>
          <p:nvPr/>
        </p:nvGraphicFramePr>
        <p:xfrm>
          <a:off x="8394192" y="1938528"/>
          <a:ext cx="2944368" cy="1874519"/>
        </p:xfrm>
        <a:graphic>
          <a:graphicData uri="http://schemas.openxmlformats.org/drawingml/2006/table">
            <a:tbl>
              <a:tblPr firstRow="1" bandRow="1">
                <a:tableStyleId>{5C22544A-7EE6-4342-B048-85BDC9FD1C3A}</a:tableStyleId>
              </a:tblPr>
              <a:tblGrid>
                <a:gridCol w="2011680"/>
                <a:gridCol w="932688"/>
              </a:tblGrid>
              <a:tr h="468629">
                <a:tc>
                  <a:txBody>
                    <a:bodyPr wrap="square" anchor="ctr"/>
                    <a:lstStyle/>
                    <a:p>
                      <a:pPr algn="ctr">
                        <a:spcAft>
                          <a:spcPts val="0"/>
                        </a:spcAft>
                      </a:pPr>
                      <a:r>
                        <a:rPr sz="1100" b="1">
                          <a:solidFill>
                            <a:srgbClr val="FFFFFF"/>
                          </a:solidFill>
                          <a:latin typeface="Arial"/>
                        </a:rPr>
                        <a:t>Test result</a:t>
                      </a:r>
                    </a:p>
                  </a:txBody>
                  <a:tcPr marL="45720" marR="45720" marT="27432" marB="27432">
                    <a:solidFill>
                      <a:srgbClr val="237470"/>
                    </a:solidFill>
                  </a:tcPr>
                </a:tc>
                <a:tc>
                  <a:txBody>
                    <a:bodyPr wrap="square" anchor="ctr"/>
                    <a:lstStyle/>
                    <a:p>
                      <a:pPr algn="ctr">
                        <a:spcAft>
                          <a:spcPts val="0"/>
                        </a:spcAft>
                      </a:pPr>
                      <a:r>
                        <a:rPr sz="1100" b="1">
                          <a:solidFill>
                            <a:srgbClr val="FFFFFF"/>
                          </a:solidFill>
                          <a:latin typeface="Arial"/>
                        </a:rPr>
                        <a:t>Count</a:t>
                      </a:r>
                    </a:p>
                  </a:txBody>
                  <a:tcPr marL="45720" marR="45720" marT="27432" marB="27432">
                    <a:solidFill>
                      <a:srgbClr val="237470"/>
                    </a:solidFill>
                  </a:tcPr>
                </a:tc>
              </a:tr>
              <a:tr h="468629">
                <a:tc>
                  <a:txBody>
                    <a:bodyPr wrap="square" anchor="ctr"/>
                    <a:lstStyle/>
                    <a:p>
                      <a:pPr algn="l">
                        <a:spcAft>
                          <a:spcPts val="0"/>
                        </a:spcAft>
                      </a:pPr>
                      <a:r>
                        <a:rPr sz="1100" b="0">
                          <a:solidFill>
                            <a:srgbClr val="202A30"/>
                          </a:solidFill>
                          <a:latin typeface="Arial"/>
                        </a:rPr>
                        <a:t>Records flagged</a:t>
                      </a:r>
                    </a:p>
                  </a:txBody>
                  <a:tcPr marL="45720" marR="45720" marT="27432" marB="27432">
                    <a:solidFill>
                      <a:srgbClr val="FFFFFF"/>
                    </a:solidFill>
                  </a:tcPr>
                </a:tc>
                <a:tc>
                  <a:txBody>
                    <a:bodyPr wrap="square" anchor="ctr"/>
                    <a:lstStyle/>
                    <a:p>
                      <a:pPr algn="ctr">
                        <a:spcAft>
                          <a:spcPts val="0"/>
                        </a:spcAft>
                      </a:pPr>
                      <a:r>
                        <a:rPr sz="1100" b="0">
                          <a:solidFill>
                            <a:srgbClr val="202A30"/>
                          </a:solidFill>
                          <a:latin typeface="Arial"/>
                        </a:rPr>
                        <a:t>113</a:t>
                      </a:r>
                    </a:p>
                  </a:txBody>
                  <a:tcPr marL="45720" marR="45720" marT="27432" marB="27432">
                    <a:solidFill>
                      <a:srgbClr val="FFFFFF"/>
                    </a:solidFill>
                  </a:tcPr>
                </a:tc>
              </a:tr>
              <a:tr h="468629">
                <a:tc>
                  <a:txBody>
                    <a:bodyPr wrap="square" anchor="ctr"/>
                    <a:lstStyle/>
                    <a:p>
                      <a:pPr algn="l">
                        <a:spcAft>
                          <a:spcPts val="0"/>
                        </a:spcAft>
                      </a:pPr>
                      <a:r>
                        <a:rPr sz="1100" b="0">
                          <a:solidFill>
                            <a:srgbClr val="202A30"/>
                          </a:solidFill>
                          <a:latin typeface="Arial"/>
                        </a:rPr>
                        <a:t>Actual failures</a:t>
                      </a:r>
                    </a:p>
                  </a:txBody>
                  <a:tcPr marL="45720" marR="45720" marT="27432" marB="27432">
                    <a:solidFill>
                      <a:srgbClr val="F2F6F7"/>
                    </a:solidFill>
                  </a:tcPr>
                </a:tc>
                <a:tc>
                  <a:txBody>
                    <a:bodyPr wrap="square" anchor="ctr"/>
                    <a:lstStyle/>
                    <a:p>
                      <a:pPr algn="ctr">
                        <a:spcAft>
                          <a:spcPts val="0"/>
                        </a:spcAft>
                      </a:pPr>
                      <a:r>
                        <a:rPr sz="1100" b="0">
                          <a:solidFill>
                            <a:srgbClr val="202A30"/>
                          </a:solidFill>
                          <a:latin typeface="Arial"/>
                        </a:rPr>
                        <a:t>68</a:t>
                      </a:r>
                    </a:p>
                  </a:txBody>
                  <a:tcPr marL="45720" marR="45720" marT="27432" marB="27432">
                    <a:solidFill>
                      <a:srgbClr val="F2F6F7"/>
                    </a:solidFill>
                  </a:tcPr>
                </a:tc>
              </a:tr>
              <a:tr h="468632">
                <a:tc>
                  <a:txBody>
                    <a:bodyPr wrap="square" anchor="ctr"/>
                    <a:lstStyle/>
                    <a:p>
                      <a:pPr algn="l">
                        <a:spcAft>
                          <a:spcPts val="0"/>
                        </a:spcAft>
                      </a:pPr>
                      <a:r>
                        <a:rPr sz="1100" b="0">
                          <a:solidFill>
                            <a:srgbClr val="202A30"/>
                          </a:solidFill>
                          <a:latin typeface="Arial"/>
                        </a:rPr>
                        <a:t>Failure overlap</a:t>
                      </a:r>
                    </a:p>
                  </a:txBody>
                  <a:tcPr marL="45720" marR="45720" marT="27432" marB="27432">
                    <a:solidFill>
                      <a:srgbClr val="FFFFFF"/>
                    </a:solidFill>
                  </a:tcPr>
                </a:tc>
                <a:tc>
                  <a:txBody>
                    <a:bodyPr wrap="square" anchor="ctr"/>
                    <a:lstStyle/>
                    <a:p>
                      <a:pPr algn="ctr">
                        <a:spcAft>
                          <a:spcPts val="0"/>
                        </a:spcAft>
                      </a:pPr>
                      <a:r>
                        <a:rPr sz="1100" b="0">
                          <a:solidFill>
                            <a:srgbClr val="202A30"/>
                          </a:solidFill>
                          <a:latin typeface="Arial"/>
                        </a:rPr>
                        <a:t>16</a:t>
                      </a:r>
                    </a:p>
                  </a:txBody>
                  <a:tcPr marL="45720" marR="45720" marT="27432" marB="27432">
                    <a:solidFill>
                      <a:srgbClr val="FFFFFF"/>
                    </a:solidFill>
                  </a:tcPr>
                </a:tc>
              </a:tr>
            </a:tbl>
          </a:graphicData>
        </a:graphic>
      </p:graphicFrame>
      <p:sp>
        <p:nvSpPr>
          <p:cNvPr id="12" name="TextBox 11"/>
          <p:cNvSpPr txBox="1"/>
          <p:nvPr/>
        </p:nvSpPr>
        <p:spPr>
          <a:xfrm>
            <a:off x="8412480" y="4160520"/>
            <a:ext cx="2907792" cy="914400"/>
          </a:xfrm>
          <a:prstGeom prst="rect">
            <a:avLst/>
          </a:prstGeom>
          <a:noFill/>
        </p:spPr>
        <p:txBody>
          <a:bodyPr wrap="square" lIns="27432" rIns="27432" tIns="27432" bIns="27432" anchor="t">
            <a:spAutoFit/>
          </a:bodyPr>
          <a:lstStyle/>
          <a:p>
            <a:pPr algn="ctr">
              <a:spcAft>
                <a:spcPts val="0"/>
              </a:spcAft>
            </a:pPr>
            <a:r>
              <a:rPr sz="1700" b="1">
                <a:solidFill>
                  <a:srgbClr val="237470"/>
                </a:solidFill>
                <a:latin typeface="Arial"/>
              </a:rPr>
              <a:t>Unusual behavior is not always failure, and failure is not always unusual.</a:t>
            </a:r>
          </a:p>
        </p:txBody>
      </p:sp>
      <p:sp>
        <p:nvSpPr>
          <p:cNvPr id="13" name="TextBox 12"/>
          <p:cNvSpPr txBox="1"/>
          <p:nvPr/>
        </p:nvSpPr>
        <p:spPr>
          <a:xfrm>
            <a:off x="8412480" y="5248656"/>
            <a:ext cx="2907792" cy="384048"/>
          </a:xfrm>
          <a:prstGeom prst="rect">
            <a:avLst/>
          </a:prstGeom>
          <a:noFill/>
        </p:spPr>
        <p:txBody>
          <a:bodyPr wrap="square" lIns="27432" rIns="27432" tIns="27432" bIns="27432" anchor="t">
            <a:spAutoFit/>
          </a:bodyPr>
          <a:lstStyle/>
          <a:p>
            <a:pPr algn="ctr">
              <a:spcAft>
                <a:spcPts val="0"/>
              </a:spcAft>
            </a:pPr>
            <a:r>
              <a:rPr sz="1100" b="0">
                <a:solidFill>
                  <a:srgbClr val="5B6970"/>
                </a:solidFill>
                <a:latin typeface="Arial"/>
              </a:rPr>
              <a:t>Lower score = more anomalous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57200"/>
          </a:xfrm>
          <a:prstGeom prst="rect">
            <a:avLst/>
          </a:prstGeom>
          <a:noFill/>
        </p:spPr>
        <p:txBody>
          <a:bodyPr wrap="square" lIns="27432" rIns="27432" tIns="27432" bIns="27432" anchor="t">
            <a:spAutoFit/>
          </a:bodyPr>
          <a:lstStyle/>
          <a:p>
            <a:pPr algn="l">
              <a:spcAft>
                <a:spcPts val="0"/>
              </a:spcAft>
            </a:pPr>
            <a:r>
              <a:rPr sz="2500" b="1">
                <a:solidFill>
                  <a:srgbClr val="202A30"/>
                </a:solidFill>
                <a:latin typeface="Arial"/>
              </a:rPr>
              <a:t>Failure classification results</a:t>
            </a:r>
          </a:p>
        </p:txBody>
      </p:sp>
      <p:sp>
        <p:nvSpPr>
          <p:cNvPr id="3" name="Rectangle 2"/>
          <p:cNvSpPr/>
          <p:nvPr/>
        </p:nvSpPr>
        <p:spPr>
          <a:xfrm>
            <a:off x="566928" y="850392"/>
            <a:ext cx="640080" cy="45720"/>
          </a:xfrm>
          <a:prstGeom prst="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740664"/>
            <a:ext cx="9784080" cy="256032"/>
          </a:xfrm>
          <a:prstGeom prst="rect">
            <a:avLst/>
          </a:prstGeom>
          <a:noFill/>
        </p:spPr>
        <p:txBody>
          <a:bodyPr wrap="square" lIns="27432" rIns="27432" tIns="27432" bIns="27432" anchor="t">
            <a:spAutoFit/>
          </a:bodyPr>
          <a:lstStyle/>
          <a:p>
            <a:pPr algn="l">
              <a:spcAft>
                <a:spcPts val="0"/>
              </a:spcAft>
            </a:pPr>
            <a:r>
              <a:rPr sz="1000" b="0">
                <a:solidFill>
                  <a:srgbClr val="5B6970"/>
                </a:solidFill>
                <a:latin typeface="Arial"/>
              </a:rPr>
              <a:t>Question: Does this record match a known failure pattern?</a:t>
            </a:r>
          </a:p>
        </p:txBody>
      </p:sp>
      <p:sp>
        <p:nvSpPr>
          <p:cNvPr id="5" name="TextBox 4"/>
          <p:cNvSpPr txBox="1"/>
          <p:nvPr/>
        </p:nvSpPr>
        <p:spPr>
          <a:xfrm>
            <a:off x="566928" y="6556248"/>
            <a:ext cx="5029200" cy="164592"/>
          </a:xfrm>
          <a:prstGeom prst="rect">
            <a:avLst/>
          </a:prstGeom>
          <a:noFill/>
        </p:spPr>
        <p:txBody>
          <a:bodyPr wrap="square" lIns="27432" rIns="27432" tIns="27432" bIns="27432" anchor="t">
            <a:spAutoFit/>
          </a:bodyPr>
          <a:lstStyle/>
          <a:p>
            <a:pPr algn="l">
              <a:spcAft>
                <a:spcPts val="0"/>
              </a:spcAft>
            </a:pPr>
            <a:r>
              <a:rPr sz="800" b="0">
                <a:solidFill>
                  <a:srgbClr val="5B6970"/>
                </a:solidFill>
                <a:latin typeface="Arial"/>
              </a:rPr>
              <a:t>Responsible and Explainable AI | University of Regina</a:t>
            </a:r>
          </a:p>
        </p:txBody>
      </p:sp>
      <p:sp>
        <p:nvSpPr>
          <p:cNvPr id="6" name="TextBox 5"/>
          <p:cNvSpPr txBox="1"/>
          <p:nvPr/>
        </p:nvSpPr>
        <p:spPr>
          <a:xfrm>
            <a:off x="11109960" y="6528816"/>
            <a:ext cx="502920" cy="182880"/>
          </a:xfrm>
          <a:prstGeom prst="rect">
            <a:avLst/>
          </a:prstGeom>
          <a:noFill/>
        </p:spPr>
        <p:txBody>
          <a:bodyPr wrap="square" lIns="27432" rIns="27432" tIns="27432" bIns="27432" anchor="t">
            <a:spAutoFit/>
          </a:bodyPr>
          <a:lstStyle/>
          <a:p>
            <a:pPr algn="r">
              <a:spcAft>
                <a:spcPts val="0"/>
              </a:spcAft>
            </a:pPr>
            <a:r>
              <a:rPr sz="900" b="1">
                <a:solidFill>
                  <a:srgbClr val="5B6970"/>
                </a:solidFill>
                <a:latin typeface="Arial"/>
              </a:rPr>
              <a:t>7</a:t>
            </a:r>
          </a:p>
        </p:txBody>
      </p:sp>
      <p:pic>
        <p:nvPicPr>
          <p:cNvPr id="7" name="Picture 6" descr="classification_confusion_matrix.png"/>
          <p:cNvPicPr>
            <a:picLocks noChangeAspect="1"/>
          </p:cNvPicPr>
          <p:nvPr/>
        </p:nvPicPr>
        <p:blipFill>
          <a:blip r:embed="rId2"/>
          <a:stretch>
            <a:fillRect/>
          </a:stretch>
        </p:blipFill>
        <p:spPr>
          <a:xfrm>
            <a:off x="713232" y="1452992"/>
            <a:ext cx="5715000" cy="4592094"/>
          </a:xfrm>
          <a:prstGeom prst="rect">
            <a:avLst/>
          </a:prstGeom>
        </p:spPr>
      </p:pic>
      <p:sp>
        <p:nvSpPr>
          <p:cNvPr id="8" name="Rounded Rectangle 7"/>
          <p:cNvSpPr/>
          <p:nvPr/>
        </p:nvSpPr>
        <p:spPr>
          <a:xfrm>
            <a:off x="6656832" y="1234440"/>
            <a:ext cx="4828032" cy="4526280"/>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931152" y="1481328"/>
            <a:ext cx="1481328" cy="320040"/>
          </a:xfrm>
          <a:prstGeom prst="roundRect">
            <a:avLst/>
          </a:prstGeom>
          <a:solidFill>
            <a:srgbClr val="2D6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31152" y="1490472"/>
            <a:ext cx="1481328"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BASE TREE</a:t>
            </a:r>
          </a:p>
        </p:txBody>
      </p:sp>
      <p:graphicFrame>
        <p:nvGraphicFramePr>
          <p:cNvPr id="11" name="Table 10"/>
          <p:cNvGraphicFramePr>
            <a:graphicFrameLocks noGrp="1"/>
          </p:cNvGraphicFramePr>
          <p:nvPr/>
        </p:nvGraphicFramePr>
        <p:xfrm>
          <a:off x="6912864" y="1938528"/>
          <a:ext cx="4297680" cy="1572768"/>
        </p:xfrm>
        <a:graphic>
          <a:graphicData uri="http://schemas.openxmlformats.org/drawingml/2006/table">
            <a:tbl>
              <a:tblPr firstRow="1" bandRow="1">
                <a:tableStyleId>{5C22544A-7EE6-4342-B048-85BDC9FD1C3A}</a:tableStyleId>
              </a:tblPr>
              <a:tblGrid>
                <a:gridCol w="2468880"/>
                <a:gridCol w="1828800"/>
              </a:tblGrid>
              <a:tr h="314553">
                <a:tc>
                  <a:txBody>
                    <a:bodyPr wrap="square" anchor="ctr"/>
                    <a:lstStyle/>
                    <a:p>
                      <a:pPr algn="ctr">
                        <a:spcAft>
                          <a:spcPts val="0"/>
                        </a:spcAft>
                      </a:pPr>
                      <a:r>
                        <a:rPr sz="1200" b="1">
                          <a:solidFill>
                            <a:srgbClr val="FFFFFF"/>
                          </a:solidFill>
                          <a:latin typeface="Arial"/>
                        </a:rPr>
                        <a:t>Metric</a:t>
                      </a:r>
                    </a:p>
                  </a:txBody>
                  <a:tcPr marL="45720" marR="45720" marT="27432" marB="27432">
                    <a:solidFill>
                      <a:srgbClr val="237470"/>
                    </a:solidFill>
                  </a:tcPr>
                </a:tc>
                <a:tc>
                  <a:txBody>
                    <a:bodyPr wrap="square" anchor="ctr"/>
                    <a:lstStyle/>
                    <a:p>
                      <a:pPr algn="ctr">
                        <a:spcAft>
                          <a:spcPts val="0"/>
                        </a:spcAft>
                      </a:pPr>
                      <a:r>
                        <a:rPr sz="1200" b="1">
                          <a:solidFill>
                            <a:srgbClr val="FFFFFF"/>
                          </a:solidFill>
                          <a:latin typeface="Arial"/>
                        </a:rPr>
                        <a:t>Result</a:t>
                      </a:r>
                    </a:p>
                  </a:txBody>
                  <a:tcPr marL="45720" marR="45720" marT="27432" marB="27432">
                    <a:solidFill>
                      <a:srgbClr val="237470"/>
                    </a:solidFill>
                  </a:tcPr>
                </a:tc>
              </a:tr>
              <a:tr h="314553">
                <a:tc>
                  <a:txBody>
                    <a:bodyPr wrap="square" anchor="ctr"/>
                    <a:lstStyle/>
                    <a:p>
                      <a:pPr algn="l">
                        <a:spcAft>
                          <a:spcPts val="0"/>
                        </a:spcAft>
                      </a:pPr>
                      <a:r>
                        <a:rPr sz="1200" b="0">
                          <a:solidFill>
                            <a:srgbClr val="202A30"/>
                          </a:solidFill>
                          <a:latin typeface="Arial"/>
                        </a:rPr>
                        <a:t>Accuracy</a:t>
                      </a:r>
                    </a:p>
                  </a:txBody>
                  <a:tcPr marL="45720" marR="45720" marT="27432" marB="27432">
                    <a:solidFill>
                      <a:srgbClr val="FFFFFF"/>
                    </a:solidFill>
                  </a:tcPr>
                </a:tc>
                <a:tc>
                  <a:txBody>
                    <a:bodyPr wrap="square" anchor="ctr"/>
                    <a:lstStyle/>
                    <a:p>
                      <a:pPr algn="ctr">
                        <a:spcAft>
                          <a:spcPts val="0"/>
                        </a:spcAft>
                      </a:pPr>
                      <a:r>
                        <a:rPr sz="1200" b="0">
                          <a:solidFill>
                            <a:srgbClr val="202A30"/>
                          </a:solidFill>
                          <a:latin typeface="Arial"/>
                        </a:rPr>
                        <a:t>92.60%</a:t>
                      </a:r>
                    </a:p>
                  </a:txBody>
                  <a:tcPr marL="45720" marR="45720" marT="27432" marB="27432">
                    <a:solidFill>
                      <a:srgbClr val="FFFFFF"/>
                    </a:solidFill>
                  </a:tcPr>
                </a:tc>
              </a:tr>
              <a:tr h="314553">
                <a:tc>
                  <a:txBody>
                    <a:bodyPr wrap="square" anchor="ctr"/>
                    <a:lstStyle/>
                    <a:p>
                      <a:pPr algn="l">
                        <a:spcAft>
                          <a:spcPts val="0"/>
                        </a:spcAft>
                      </a:pPr>
                      <a:r>
                        <a:rPr sz="1200" b="0">
                          <a:solidFill>
                            <a:srgbClr val="202A30"/>
                          </a:solidFill>
                          <a:latin typeface="Arial"/>
                        </a:rPr>
                        <a:t>Precision</a:t>
                      </a:r>
                    </a:p>
                  </a:txBody>
                  <a:tcPr marL="45720" marR="45720" marT="27432" marB="27432">
                    <a:solidFill>
                      <a:srgbClr val="F2F6F7"/>
                    </a:solidFill>
                  </a:tcPr>
                </a:tc>
                <a:tc>
                  <a:txBody>
                    <a:bodyPr wrap="square" anchor="ctr"/>
                    <a:lstStyle/>
                    <a:p>
                      <a:pPr algn="ctr">
                        <a:spcAft>
                          <a:spcPts val="0"/>
                        </a:spcAft>
                      </a:pPr>
                      <a:r>
                        <a:rPr sz="1200" b="0">
                          <a:solidFill>
                            <a:srgbClr val="202A30"/>
                          </a:solidFill>
                          <a:latin typeface="Arial"/>
                        </a:rPr>
                        <a:t>30.58%</a:t>
                      </a:r>
                    </a:p>
                  </a:txBody>
                  <a:tcPr marL="45720" marR="45720" marT="27432" marB="27432">
                    <a:solidFill>
                      <a:srgbClr val="F2F6F7"/>
                    </a:solidFill>
                  </a:tcPr>
                </a:tc>
              </a:tr>
              <a:tr h="314553">
                <a:tc>
                  <a:txBody>
                    <a:bodyPr wrap="square" anchor="ctr"/>
                    <a:lstStyle/>
                    <a:p>
                      <a:pPr algn="l">
                        <a:spcAft>
                          <a:spcPts val="0"/>
                        </a:spcAft>
                      </a:pPr>
                      <a:r>
                        <a:rPr sz="1200" b="0">
                          <a:solidFill>
                            <a:srgbClr val="202A30"/>
                          </a:solidFill>
                          <a:latin typeface="Arial"/>
                        </a:rPr>
                        <a:t>Recall</a:t>
                      </a:r>
                    </a:p>
                  </a:txBody>
                  <a:tcPr marL="45720" marR="45720" marT="27432" marB="27432">
                    <a:solidFill>
                      <a:srgbClr val="FFFFFF"/>
                    </a:solidFill>
                  </a:tcPr>
                </a:tc>
                <a:tc>
                  <a:txBody>
                    <a:bodyPr wrap="square" anchor="ctr"/>
                    <a:lstStyle/>
                    <a:p>
                      <a:pPr algn="ctr">
                        <a:spcAft>
                          <a:spcPts val="0"/>
                        </a:spcAft>
                      </a:pPr>
                      <a:r>
                        <a:rPr sz="1200" b="0">
                          <a:solidFill>
                            <a:srgbClr val="202A30"/>
                          </a:solidFill>
                          <a:latin typeface="Arial"/>
                        </a:rPr>
                        <a:t>92.65%</a:t>
                      </a:r>
                    </a:p>
                  </a:txBody>
                  <a:tcPr marL="45720" marR="45720" marT="27432" marB="27432">
                    <a:solidFill>
                      <a:srgbClr val="FFFFFF"/>
                    </a:solidFill>
                  </a:tcPr>
                </a:tc>
              </a:tr>
              <a:tr h="314556">
                <a:tc>
                  <a:txBody>
                    <a:bodyPr wrap="square" anchor="ctr"/>
                    <a:lstStyle/>
                    <a:p>
                      <a:pPr algn="l">
                        <a:spcAft>
                          <a:spcPts val="0"/>
                        </a:spcAft>
                      </a:pPr>
                      <a:r>
                        <a:rPr sz="1200" b="0">
                          <a:solidFill>
                            <a:srgbClr val="202A30"/>
                          </a:solidFill>
                          <a:latin typeface="Arial"/>
                        </a:rPr>
                        <a:t>F1</a:t>
                      </a:r>
                    </a:p>
                  </a:txBody>
                  <a:tcPr marL="45720" marR="45720" marT="27432" marB="27432">
                    <a:solidFill>
                      <a:srgbClr val="F2F6F7"/>
                    </a:solidFill>
                  </a:tcPr>
                </a:tc>
                <a:tc>
                  <a:txBody>
                    <a:bodyPr wrap="square" anchor="ctr"/>
                    <a:lstStyle/>
                    <a:p>
                      <a:pPr algn="ctr">
                        <a:spcAft>
                          <a:spcPts val="0"/>
                        </a:spcAft>
                      </a:pPr>
                      <a:r>
                        <a:rPr sz="1200" b="0">
                          <a:solidFill>
                            <a:srgbClr val="202A30"/>
                          </a:solidFill>
                          <a:latin typeface="Arial"/>
                        </a:rPr>
                        <a:t>45.99%</a:t>
                      </a:r>
                    </a:p>
                  </a:txBody>
                  <a:tcPr marL="45720" marR="45720" marT="27432" marB="27432">
                    <a:solidFill>
                      <a:srgbClr val="F2F6F7"/>
                    </a:solidFill>
                  </a:tcPr>
                </a:tc>
              </a:tr>
            </a:tbl>
          </a:graphicData>
        </a:graphic>
      </p:graphicFrame>
      <p:sp>
        <p:nvSpPr>
          <p:cNvPr id="12" name="Oval 11"/>
          <p:cNvSpPr/>
          <p:nvPr/>
        </p:nvSpPr>
        <p:spPr>
          <a:xfrm>
            <a:off x="6967728" y="3941064"/>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50608" y="3840480"/>
            <a:ext cx="3977639" cy="457200"/>
          </a:xfrm>
          <a:prstGeom prst="rect">
            <a:avLst/>
          </a:prstGeom>
          <a:noFill/>
        </p:spPr>
        <p:txBody>
          <a:bodyPr wrap="square" lIns="27432" rIns="27432" tIns="27432" bIns="27432" anchor="t">
            <a:spAutoFit/>
          </a:bodyPr>
          <a:lstStyle/>
          <a:p>
            <a:pPr algn="l">
              <a:spcAft>
                <a:spcPts val="0"/>
              </a:spcAft>
            </a:pPr>
            <a:r>
              <a:rPr sz="1500" b="0">
                <a:solidFill>
                  <a:srgbClr val="202A30"/>
                </a:solidFill>
                <a:latin typeface="Arial"/>
              </a:rPr>
              <a:t>63 of 68 failures detected</a:t>
            </a:r>
          </a:p>
        </p:txBody>
      </p:sp>
      <p:sp>
        <p:nvSpPr>
          <p:cNvPr id="14" name="Oval 13"/>
          <p:cNvSpPr/>
          <p:nvPr/>
        </p:nvSpPr>
        <p:spPr>
          <a:xfrm>
            <a:off x="6967728" y="4425696"/>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50608" y="4325112"/>
            <a:ext cx="3977639" cy="457200"/>
          </a:xfrm>
          <a:prstGeom prst="rect">
            <a:avLst/>
          </a:prstGeom>
          <a:noFill/>
        </p:spPr>
        <p:txBody>
          <a:bodyPr wrap="square" lIns="27432" rIns="27432" tIns="27432" bIns="27432" anchor="t">
            <a:spAutoFit/>
          </a:bodyPr>
          <a:lstStyle/>
          <a:p>
            <a:pPr algn="l">
              <a:spcAft>
                <a:spcPts val="0"/>
              </a:spcAft>
            </a:pPr>
            <a:r>
              <a:rPr sz="1500" b="0">
                <a:solidFill>
                  <a:srgbClr val="202A30"/>
                </a:solidFill>
                <a:latin typeface="Arial"/>
              </a:rPr>
              <a:t>5 failures missed</a:t>
            </a:r>
          </a:p>
        </p:txBody>
      </p:sp>
      <p:sp>
        <p:nvSpPr>
          <p:cNvPr id="16" name="Oval 15"/>
          <p:cNvSpPr/>
          <p:nvPr/>
        </p:nvSpPr>
        <p:spPr>
          <a:xfrm>
            <a:off x="6967728" y="4910328"/>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50608" y="4809744"/>
            <a:ext cx="3977639" cy="457200"/>
          </a:xfrm>
          <a:prstGeom prst="rect">
            <a:avLst/>
          </a:prstGeom>
          <a:noFill/>
        </p:spPr>
        <p:txBody>
          <a:bodyPr wrap="square" lIns="27432" rIns="27432" tIns="27432" bIns="27432" anchor="t">
            <a:spAutoFit/>
          </a:bodyPr>
          <a:lstStyle/>
          <a:p>
            <a:pPr algn="l">
              <a:spcAft>
                <a:spcPts val="0"/>
              </a:spcAft>
            </a:pPr>
            <a:r>
              <a:rPr sz="1500" b="0">
                <a:solidFill>
                  <a:srgbClr val="202A30"/>
                </a:solidFill>
                <a:latin typeface="Arial"/>
              </a:rPr>
              <a:t>143 false alarms</a:t>
            </a:r>
          </a:p>
        </p:txBody>
      </p:sp>
      <p:sp>
        <p:nvSpPr>
          <p:cNvPr id="18" name="TextBox 17"/>
          <p:cNvSpPr txBox="1"/>
          <p:nvPr/>
        </p:nvSpPr>
        <p:spPr>
          <a:xfrm>
            <a:off x="6949440" y="5376672"/>
            <a:ext cx="4206240" cy="274320"/>
          </a:xfrm>
          <a:prstGeom prst="rect">
            <a:avLst/>
          </a:prstGeom>
          <a:noFill/>
        </p:spPr>
        <p:txBody>
          <a:bodyPr wrap="square" lIns="27432" rIns="27432" tIns="27432" bIns="27432" anchor="t">
            <a:spAutoFit/>
          </a:bodyPr>
          <a:lstStyle/>
          <a:p>
            <a:pPr algn="ctr">
              <a:spcAft>
                <a:spcPts val="0"/>
              </a:spcAft>
            </a:pPr>
            <a:r>
              <a:rPr sz="1500" b="1">
                <a:solidFill>
                  <a:srgbClr val="237470"/>
                </a:solidFill>
                <a:latin typeface="Arial"/>
              </a:rPr>
              <a:t>High recall came with low precision.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57200"/>
          </a:xfrm>
          <a:prstGeom prst="rect">
            <a:avLst/>
          </a:prstGeom>
          <a:noFill/>
        </p:spPr>
        <p:txBody>
          <a:bodyPr wrap="square" lIns="27432" rIns="27432" tIns="27432" bIns="27432" anchor="t">
            <a:spAutoFit/>
          </a:bodyPr>
          <a:lstStyle/>
          <a:p>
            <a:pPr algn="l">
              <a:spcAft>
                <a:spcPts val="0"/>
              </a:spcAft>
            </a:pPr>
            <a:r>
              <a:rPr sz="2500" b="1">
                <a:solidFill>
                  <a:srgbClr val="202A30"/>
                </a:solidFill>
                <a:latin typeface="Arial"/>
              </a:rPr>
              <a:t>Neural network experiment</a:t>
            </a:r>
          </a:p>
        </p:txBody>
      </p:sp>
      <p:sp>
        <p:nvSpPr>
          <p:cNvPr id="3" name="Rectangle 2"/>
          <p:cNvSpPr/>
          <p:nvPr/>
        </p:nvSpPr>
        <p:spPr>
          <a:xfrm>
            <a:off x="566928" y="850392"/>
            <a:ext cx="640080" cy="45720"/>
          </a:xfrm>
          <a:prstGeom prst="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740664"/>
            <a:ext cx="9784080" cy="256032"/>
          </a:xfrm>
          <a:prstGeom prst="rect">
            <a:avLst/>
          </a:prstGeom>
          <a:noFill/>
        </p:spPr>
        <p:txBody>
          <a:bodyPr wrap="square" lIns="27432" rIns="27432" tIns="27432" bIns="27432" anchor="t">
            <a:spAutoFit/>
          </a:bodyPr>
          <a:lstStyle/>
          <a:p>
            <a:pPr algn="l">
              <a:spcAft>
                <a:spcPts val="0"/>
              </a:spcAft>
            </a:pPr>
            <a:r>
              <a:rPr sz="1000" b="0">
                <a:solidFill>
                  <a:srgbClr val="5B6970"/>
                </a:solidFill>
                <a:latin typeface="Arial"/>
              </a:rPr>
              <a:t>A nonlinear benchmark evaluated against the decision-tree models</a:t>
            </a:r>
          </a:p>
        </p:txBody>
      </p:sp>
      <p:sp>
        <p:nvSpPr>
          <p:cNvPr id="5" name="TextBox 4"/>
          <p:cNvSpPr txBox="1"/>
          <p:nvPr/>
        </p:nvSpPr>
        <p:spPr>
          <a:xfrm>
            <a:off x="566928" y="6556248"/>
            <a:ext cx="5029200" cy="164592"/>
          </a:xfrm>
          <a:prstGeom prst="rect">
            <a:avLst/>
          </a:prstGeom>
          <a:noFill/>
        </p:spPr>
        <p:txBody>
          <a:bodyPr wrap="square" lIns="27432" rIns="27432" tIns="27432" bIns="27432" anchor="t">
            <a:spAutoFit/>
          </a:bodyPr>
          <a:lstStyle/>
          <a:p>
            <a:pPr algn="l">
              <a:spcAft>
                <a:spcPts val="0"/>
              </a:spcAft>
            </a:pPr>
            <a:r>
              <a:rPr sz="800" b="0">
                <a:solidFill>
                  <a:srgbClr val="5B6970"/>
                </a:solidFill>
                <a:latin typeface="Arial"/>
              </a:rPr>
              <a:t>Responsible and Explainable AI | University of Regina</a:t>
            </a:r>
          </a:p>
        </p:txBody>
      </p:sp>
      <p:sp>
        <p:nvSpPr>
          <p:cNvPr id="6" name="TextBox 5"/>
          <p:cNvSpPr txBox="1"/>
          <p:nvPr/>
        </p:nvSpPr>
        <p:spPr>
          <a:xfrm>
            <a:off x="11109960" y="6528816"/>
            <a:ext cx="502920" cy="182880"/>
          </a:xfrm>
          <a:prstGeom prst="rect">
            <a:avLst/>
          </a:prstGeom>
          <a:noFill/>
        </p:spPr>
        <p:txBody>
          <a:bodyPr wrap="square" lIns="27432" rIns="27432" tIns="27432" bIns="27432" anchor="t">
            <a:spAutoFit/>
          </a:bodyPr>
          <a:lstStyle/>
          <a:p>
            <a:pPr algn="r">
              <a:spcAft>
                <a:spcPts val="0"/>
              </a:spcAft>
            </a:pPr>
            <a:r>
              <a:rPr sz="900" b="1">
                <a:solidFill>
                  <a:srgbClr val="5B6970"/>
                </a:solidFill>
                <a:latin typeface="Arial"/>
              </a:rPr>
              <a:t>8</a:t>
            </a:r>
          </a:p>
        </p:txBody>
      </p:sp>
      <p:sp>
        <p:nvSpPr>
          <p:cNvPr id="7" name="Rounded Rectangle 6"/>
          <p:cNvSpPr/>
          <p:nvPr/>
        </p:nvSpPr>
        <p:spPr>
          <a:xfrm>
            <a:off x="658368" y="1170432"/>
            <a:ext cx="5623560" cy="1572768"/>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1417320"/>
            <a:ext cx="1572768" cy="320040"/>
          </a:xfrm>
          <a:prstGeom prst="roundRect">
            <a:avLst/>
          </a:prstGeom>
          <a:solidFill>
            <a:srgbClr val="368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26464"/>
            <a:ext cx="1572768"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ARCHITECTURE</a:t>
            </a:r>
          </a:p>
        </p:txBody>
      </p:sp>
      <p:sp>
        <p:nvSpPr>
          <p:cNvPr id="10" name="TextBox 9"/>
          <p:cNvSpPr txBox="1"/>
          <p:nvPr/>
        </p:nvSpPr>
        <p:spPr>
          <a:xfrm>
            <a:off x="914400" y="1865376"/>
            <a:ext cx="5120640" cy="329184"/>
          </a:xfrm>
          <a:prstGeom prst="rect">
            <a:avLst/>
          </a:prstGeom>
          <a:noFill/>
        </p:spPr>
        <p:txBody>
          <a:bodyPr wrap="square" lIns="27432" rIns="27432" tIns="27432" bIns="27432" anchor="t">
            <a:spAutoFit/>
          </a:bodyPr>
          <a:lstStyle/>
          <a:p>
            <a:pPr algn="ctr">
              <a:spcAft>
                <a:spcPts val="0"/>
              </a:spcAft>
            </a:pPr>
            <a:r>
              <a:rPr sz="1700" b="1">
                <a:solidFill>
                  <a:srgbClr val="237470"/>
                </a:solidFill>
                <a:latin typeface="Arial"/>
              </a:rPr>
              <a:t>8 inputs  -&gt;  16 ReLU  -&gt;  8 ReLU  -&gt;  1 sigmoid</a:t>
            </a:r>
          </a:p>
        </p:txBody>
      </p:sp>
      <p:sp>
        <p:nvSpPr>
          <p:cNvPr id="11" name="TextBox 10"/>
          <p:cNvSpPr txBox="1"/>
          <p:nvPr/>
        </p:nvSpPr>
        <p:spPr>
          <a:xfrm>
            <a:off x="914400" y="2304288"/>
            <a:ext cx="5120640" cy="228600"/>
          </a:xfrm>
          <a:prstGeom prst="rect">
            <a:avLst/>
          </a:prstGeom>
          <a:noFill/>
        </p:spPr>
        <p:txBody>
          <a:bodyPr wrap="square" lIns="27432" rIns="27432" tIns="27432" bIns="27432" anchor="t">
            <a:spAutoFit/>
          </a:bodyPr>
          <a:lstStyle/>
          <a:p>
            <a:pPr algn="ctr">
              <a:spcAft>
                <a:spcPts val="0"/>
              </a:spcAft>
            </a:pPr>
            <a:r>
              <a:rPr sz="1100" b="0">
                <a:solidFill>
                  <a:srgbClr val="5B6970"/>
                </a:solidFill>
                <a:latin typeface="Arial"/>
              </a:rPr>
              <a:t>Balanced weights | Adam | regularization | early stopping</a:t>
            </a:r>
          </a:p>
        </p:txBody>
      </p:sp>
      <p:graphicFrame>
        <p:nvGraphicFramePr>
          <p:cNvPr id="12" name="Table 11"/>
          <p:cNvGraphicFramePr>
            <a:graphicFrameLocks noGrp="1"/>
          </p:cNvGraphicFramePr>
          <p:nvPr/>
        </p:nvGraphicFramePr>
        <p:xfrm>
          <a:off x="658368" y="2971800"/>
          <a:ext cx="5623560" cy="2057400"/>
        </p:xfrm>
        <a:graphic>
          <a:graphicData uri="http://schemas.openxmlformats.org/drawingml/2006/table">
            <a:tbl>
              <a:tblPr firstRow="1" bandRow="1">
                <a:tableStyleId>{5C22544A-7EE6-4342-B048-85BDC9FD1C3A}</a:tableStyleId>
              </a:tblPr>
              <a:tblGrid>
                <a:gridCol w="2423160"/>
                <a:gridCol w="1051560"/>
                <a:gridCol w="1051560"/>
                <a:gridCol w="1097280"/>
              </a:tblGrid>
              <a:tr h="514350">
                <a:tc>
                  <a:txBody>
                    <a:bodyPr wrap="square" anchor="ctr"/>
                    <a:lstStyle/>
                    <a:p>
                      <a:pPr algn="ctr">
                        <a:spcAft>
                          <a:spcPts val="0"/>
                        </a:spcAft>
                      </a:pPr>
                      <a:r>
                        <a:rPr sz="1100" b="1">
                          <a:solidFill>
                            <a:srgbClr val="FFFFFF"/>
                          </a:solidFill>
                          <a:latin typeface="Arial"/>
                        </a:rPr>
                        <a:t>Five-fold mean</a:t>
                      </a:r>
                    </a:p>
                  </a:txBody>
                  <a:tcPr marL="45720" marR="45720" marT="27432" marB="27432">
                    <a:solidFill>
                      <a:srgbClr val="237470"/>
                    </a:solidFill>
                  </a:tcPr>
                </a:tc>
                <a:tc>
                  <a:txBody>
                    <a:bodyPr wrap="square" anchor="ctr"/>
                    <a:lstStyle/>
                    <a:p>
                      <a:pPr algn="ctr">
                        <a:spcAft>
                          <a:spcPts val="0"/>
                        </a:spcAft>
                      </a:pPr>
                      <a:r>
                        <a:rPr sz="1100" b="1">
                          <a:solidFill>
                            <a:srgbClr val="FFFFFF"/>
                          </a:solidFill>
                          <a:latin typeface="Arial"/>
                        </a:rPr>
                        <a:t>Precision</a:t>
                      </a:r>
                    </a:p>
                  </a:txBody>
                  <a:tcPr marL="45720" marR="45720" marT="27432" marB="27432">
                    <a:solidFill>
                      <a:srgbClr val="237470"/>
                    </a:solidFill>
                  </a:tcPr>
                </a:tc>
                <a:tc>
                  <a:txBody>
                    <a:bodyPr wrap="square" anchor="ctr"/>
                    <a:lstStyle/>
                    <a:p>
                      <a:pPr algn="ctr">
                        <a:spcAft>
                          <a:spcPts val="0"/>
                        </a:spcAft>
                      </a:pPr>
                      <a:r>
                        <a:rPr sz="1100" b="1">
                          <a:solidFill>
                            <a:srgbClr val="FFFFFF"/>
                          </a:solidFill>
                          <a:latin typeface="Arial"/>
                        </a:rPr>
                        <a:t>Recall</a:t>
                      </a:r>
                    </a:p>
                  </a:txBody>
                  <a:tcPr marL="45720" marR="45720" marT="27432" marB="27432">
                    <a:solidFill>
                      <a:srgbClr val="237470"/>
                    </a:solidFill>
                  </a:tcPr>
                </a:tc>
                <a:tc>
                  <a:txBody>
                    <a:bodyPr wrap="square" anchor="ctr"/>
                    <a:lstStyle/>
                    <a:p>
                      <a:pPr algn="ctr">
                        <a:spcAft>
                          <a:spcPts val="0"/>
                        </a:spcAft>
                      </a:pPr>
                      <a:r>
                        <a:rPr sz="1100" b="1">
                          <a:solidFill>
                            <a:srgbClr val="FFFFFF"/>
                          </a:solidFill>
                          <a:latin typeface="Arial"/>
                        </a:rPr>
                        <a:t>F1</a:t>
                      </a:r>
                    </a:p>
                  </a:txBody>
                  <a:tcPr marL="45720" marR="45720" marT="27432" marB="27432">
                    <a:solidFill>
                      <a:srgbClr val="237470"/>
                    </a:solidFill>
                  </a:tcPr>
                </a:tc>
              </a:tr>
              <a:tr h="514350">
                <a:tc>
                  <a:txBody>
                    <a:bodyPr wrap="square" anchor="ctr"/>
                    <a:lstStyle/>
                    <a:p>
                      <a:pPr algn="l">
                        <a:spcAft>
                          <a:spcPts val="0"/>
                        </a:spcAft>
                      </a:pPr>
                      <a:r>
                        <a:rPr sz="1100" b="0">
                          <a:solidFill>
                            <a:srgbClr val="202A30"/>
                          </a:solidFill>
                          <a:latin typeface="Arial"/>
                        </a:rPr>
                        <a:t>Base decision tree</a:t>
                      </a:r>
                    </a:p>
                  </a:txBody>
                  <a:tcPr marL="45720" marR="45720" marT="27432" marB="27432">
                    <a:solidFill>
                      <a:srgbClr val="FFFFFF"/>
                    </a:solidFill>
                  </a:tcPr>
                </a:tc>
                <a:tc>
                  <a:txBody>
                    <a:bodyPr wrap="square" anchor="ctr"/>
                    <a:lstStyle/>
                    <a:p>
                      <a:pPr algn="ctr">
                        <a:spcAft>
                          <a:spcPts val="0"/>
                        </a:spcAft>
                      </a:pPr>
                      <a:r>
                        <a:rPr sz="1100" b="0">
                          <a:solidFill>
                            <a:srgbClr val="202A30"/>
                          </a:solidFill>
                          <a:latin typeface="Arial"/>
                        </a:rPr>
                        <a:t>0.2256</a:t>
                      </a:r>
                    </a:p>
                  </a:txBody>
                  <a:tcPr marL="45720" marR="45720" marT="27432" marB="27432">
                    <a:solidFill>
                      <a:srgbClr val="FFFFFF"/>
                    </a:solidFill>
                  </a:tcPr>
                </a:tc>
                <a:tc>
                  <a:txBody>
                    <a:bodyPr wrap="square" anchor="ctr"/>
                    <a:lstStyle/>
                    <a:p>
                      <a:pPr algn="ctr">
                        <a:spcAft>
                          <a:spcPts val="0"/>
                        </a:spcAft>
                      </a:pPr>
                      <a:r>
                        <a:rPr sz="1100" b="0">
                          <a:solidFill>
                            <a:srgbClr val="202A30"/>
                          </a:solidFill>
                          <a:latin typeface="Arial"/>
                        </a:rPr>
                        <a:t>0.9204</a:t>
                      </a:r>
                    </a:p>
                  </a:txBody>
                  <a:tcPr marL="45720" marR="45720" marT="27432" marB="27432">
                    <a:solidFill>
                      <a:srgbClr val="FFFFFF"/>
                    </a:solidFill>
                  </a:tcPr>
                </a:tc>
                <a:tc>
                  <a:txBody>
                    <a:bodyPr wrap="square" anchor="ctr"/>
                    <a:lstStyle/>
                    <a:p>
                      <a:pPr algn="ctr">
                        <a:spcAft>
                          <a:spcPts val="0"/>
                        </a:spcAft>
                      </a:pPr>
                      <a:r>
                        <a:rPr sz="1100" b="0">
                          <a:solidFill>
                            <a:srgbClr val="202A30"/>
                          </a:solidFill>
                          <a:latin typeface="Arial"/>
                        </a:rPr>
                        <a:t>0.3621</a:t>
                      </a:r>
                    </a:p>
                  </a:txBody>
                  <a:tcPr marL="45720" marR="45720" marT="27432" marB="27432">
                    <a:solidFill>
                      <a:srgbClr val="FFFFFF"/>
                    </a:solidFill>
                  </a:tcPr>
                </a:tc>
              </a:tr>
              <a:tr h="514350">
                <a:tc>
                  <a:txBody>
                    <a:bodyPr wrap="square" anchor="ctr"/>
                    <a:lstStyle/>
                    <a:p>
                      <a:pPr algn="l">
                        <a:spcAft>
                          <a:spcPts val="0"/>
                        </a:spcAft>
                      </a:pPr>
                      <a:r>
                        <a:rPr sz="1100" b="1">
                          <a:solidFill>
                            <a:srgbClr val="202A30"/>
                          </a:solidFill>
                          <a:latin typeface="Arial"/>
                        </a:rPr>
                        <a:t>Engineered decision tree</a:t>
                      </a:r>
                    </a:p>
                  </a:txBody>
                  <a:tcPr marL="45720" marR="45720" marT="27432" marB="27432">
                    <a:solidFill>
                      <a:srgbClr val="DCEFED"/>
                    </a:solidFill>
                  </a:tcPr>
                </a:tc>
                <a:tc>
                  <a:txBody>
                    <a:bodyPr wrap="square" anchor="ctr"/>
                    <a:lstStyle/>
                    <a:p>
                      <a:pPr algn="ctr">
                        <a:spcAft>
                          <a:spcPts val="0"/>
                        </a:spcAft>
                      </a:pPr>
                      <a:r>
                        <a:rPr sz="1100" b="1">
                          <a:solidFill>
                            <a:srgbClr val="202A30"/>
                          </a:solidFill>
                          <a:latin typeface="Arial"/>
                        </a:rPr>
                        <a:t>0.3552</a:t>
                      </a:r>
                    </a:p>
                  </a:txBody>
                  <a:tcPr marL="45720" marR="45720" marT="27432" marB="27432">
                    <a:solidFill>
                      <a:srgbClr val="DCEFED"/>
                    </a:solidFill>
                  </a:tcPr>
                </a:tc>
                <a:tc>
                  <a:txBody>
                    <a:bodyPr wrap="square" anchor="ctr"/>
                    <a:lstStyle/>
                    <a:p>
                      <a:pPr algn="ctr">
                        <a:spcAft>
                          <a:spcPts val="0"/>
                        </a:spcAft>
                      </a:pPr>
                      <a:r>
                        <a:rPr sz="1100" b="1">
                          <a:solidFill>
                            <a:srgbClr val="202A30"/>
                          </a:solidFill>
                          <a:latin typeface="Arial"/>
                        </a:rPr>
                        <a:t>0.9203</a:t>
                      </a:r>
                    </a:p>
                  </a:txBody>
                  <a:tcPr marL="45720" marR="45720" marT="27432" marB="27432">
                    <a:solidFill>
                      <a:srgbClr val="DCEFED"/>
                    </a:solidFill>
                  </a:tcPr>
                </a:tc>
                <a:tc>
                  <a:txBody>
                    <a:bodyPr wrap="square" anchor="ctr"/>
                    <a:lstStyle/>
                    <a:p>
                      <a:pPr algn="ctr">
                        <a:spcAft>
                          <a:spcPts val="0"/>
                        </a:spcAft>
                      </a:pPr>
                      <a:r>
                        <a:rPr sz="1100" b="1">
                          <a:solidFill>
                            <a:srgbClr val="202A30"/>
                          </a:solidFill>
                          <a:latin typeface="Arial"/>
                        </a:rPr>
                        <a:t>0.5119</a:t>
                      </a:r>
                    </a:p>
                  </a:txBody>
                  <a:tcPr marL="45720" marR="45720" marT="27432" marB="27432">
                    <a:solidFill>
                      <a:srgbClr val="DCEFED"/>
                    </a:solidFill>
                  </a:tcPr>
                </a:tc>
              </a:tr>
              <a:tr h="514350">
                <a:tc>
                  <a:txBody>
                    <a:bodyPr wrap="square" anchor="ctr"/>
                    <a:lstStyle/>
                    <a:p>
                      <a:pPr algn="l">
                        <a:spcAft>
                          <a:spcPts val="0"/>
                        </a:spcAft>
                      </a:pPr>
                      <a:r>
                        <a:rPr sz="1100" b="0">
                          <a:solidFill>
                            <a:srgbClr val="202A30"/>
                          </a:solidFill>
                          <a:latin typeface="Arial"/>
                        </a:rPr>
                        <a:t>Neural network</a:t>
                      </a:r>
                    </a:p>
                  </a:txBody>
                  <a:tcPr marL="45720" marR="45720" marT="27432" marB="27432">
                    <a:solidFill>
                      <a:srgbClr val="FFFFFF"/>
                    </a:solidFill>
                  </a:tcPr>
                </a:tc>
                <a:tc>
                  <a:txBody>
                    <a:bodyPr wrap="square" anchor="ctr"/>
                    <a:lstStyle/>
                    <a:p>
                      <a:pPr algn="ctr">
                        <a:spcAft>
                          <a:spcPts val="0"/>
                        </a:spcAft>
                      </a:pPr>
                      <a:r>
                        <a:rPr sz="1100" b="0">
                          <a:solidFill>
                            <a:srgbClr val="202A30"/>
                          </a:solidFill>
                          <a:latin typeface="Arial"/>
                        </a:rPr>
                        <a:t>0.2279</a:t>
                      </a:r>
                    </a:p>
                  </a:txBody>
                  <a:tcPr marL="45720" marR="45720" marT="27432" marB="27432">
                    <a:solidFill>
                      <a:srgbClr val="FFFFFF"/>
                    </a:solidFill>
                  </a:tcPr>
                </a:tc>
                <a:tc>
                  <a:txBody>
                    <a:bodyPr wrap="square" anchor="ctr"/>
                    <a:lstStyle/>
                    <a:p>
                      <a:pPr algn="ctr">
                        <a:spcAft>
                          <a:spcPts val="0"/>
                        </a:spcAft>
                      </a:pPr>
                      <a:r>
                        <a:rPr sz="1100" b="0">
                          <a:solidFill>
                            <a:srgbClr val="202A30"/>
                          </a:solidFill>
                          <a:latin typeface="Arial"/>
                        </a:rPr>
                        <a:t>0.8525</a:t>
                      </a:r>
                    </a:p>
                  </a:txBody>
                  <a:tcPr marL="45720" marR="45720" marT="27432" marB="27432">
                    <a:solidFill>
                      <a:srgbClr val="FFFFFF"/>
                    </a:solidFill>
                  </a:tcPr>
                </a:tc>
                <a:tc>
                  <a:txBody>
                    <a:bodyPr wrap="square" anchor="ctr"/>
                    <a:lstStyle/>
                    <a:p>
                      <a:pPr algn="ctr">
                        <a:spcAft>
                          <a:spcPts val="0"/>
                        </a:spcAft>
                      </a:pPr>
                      <a:r>
                        <a:rPr sz="1100" b="0">
                          <a:solidFill>
                            <a:srgbClr val="202A30"/>
                          </a:solidFill>
                          <a:latin typeface="Arial"/>
                        </a:rPr>
                        <a:t>0.3593</a:t>
                      </a:r>
                    </a:p>
                  </a:txBody>
                  <a:tcPr marL="45720" marR="45720" marT="27432" marB="27432">
                    <a:solidFill>
                      <a:srgbClr val="FFFFFF"/>
                    </a:solidFill>
                  </a:tcPr>
                </a:tc>
              </a:tr>
            </a:tbl>
          </a:graphicData>
        </a:graphic>
      </p:graphicFrame>
      <p:sp>
        <p:nvSpPr>
          <p:cNvPr id="13" name="Rounded Rectangle 12"/>
          <p:cNvSpPr/>
          <p:nvPr/>
        </p:nvSpPr>
        <p:spPr>
          <a:xfrm>
            <a:off x="658368" y="5285232"/>
            <a:ext cx="5623560" cy="640080"/>
          </a:xfrm>
          <a:prstGeom prst="roundRect">
            <a:avLst/>
          </a:prstGeom>
          <a:solidFill>
            <a:srgbClr val="DCEFED"/>
          </a:solidFill>
          <a:ln w="10160">
            <a:solidFill>
              <a:srgbClr val="2374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431536"/>
            <a:ext cx="5212080" cy="310896"/>
          </a:xfrm>
          <a:prstGeom prst="rect">
            <a:avLst/>
          </a:prstGeom>
          <a:noFill/>
        </p:spPr>
        <p:txBody>
          <a:bodyPr wrap="square" lIns="27432" rIns="27432" tIns="27432" bIns="27432" anchor="t">
            <a:spAutoFit/>
          </a:bodyPr>
          <a:lstStyle/>
          <a:p>
            <a:pPr algn="ctr">
              <a:spcAft>
                <a:spcPts val="0"/>
              </a:spcAft>
            </a:pPr>
            <a:r>
              <a:rPr sz="1500" b="1">
                <a:solidFill>
                  <a:srgbClr val="237470"/>
                </a:solidFill>
                <a:latin typeface="Arial"/>
              </a:rPr>
              <a:t>Result: the engineered tree kept the best failure-focused balance.</a:t>
            </a:r>
          </a:p>
        </p:txBody>
      </p:sp>
      <p:pic>
        <p:nvPicPr>
          <p:cNvPr id="15" name="Picture 14" descr="five_fold_neural_comparison.png"/>
          <p:cNvPicPr>
            <a:picLocks noChangeAspect="1"/>
          </p:cNvPicPr>
          <p:nvPr/>
        </p:nvPicPr>
        <p:blipFill>
          <a:blip r:embed="rId2"/>
          <a:stretch>
            <a:fillRect/>
          </a:stretch>
        </p:blipFill>
        <p:spPr>
          <a:xfrm>
            <a:off x="6473952" y="2259874"/>
            <a:ext cx="5175504" cy="281373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57200"/>
          </a:xfrm>
          <a:prstGeom prst="rect">
            <a:avLst/>
          </a:prstGeom>
          <a:noFill/>
        </p:spPr>
        <p:txBody>
          <a:bodyPr wrap="square" lIns="27432" rIns="27432" tIns="27432" bIns="27432" anchor="t">
            <a:spAutoFit/>
          </a:bodyPr>
          <a:lstStyle/>
          <a:p>
            <a:pPr algn="l">
              <a:spcAft>
                <a:spcPts val="0"/>
              </a:spcAft>
            </a:pPr>
            <a:r>
              <a:rPr sz="2500" b="1">
                <a:solidFill>
                  <a:srgbClr val="202A30"/>
                </a:solidFill>
                <a:latin typeface="Arial"/>
              </a:rPr>
              <a:t>Feature relationships</a:t>
            </a:r>
          </a:p>
        </p:txBody>
      </p:sp>
      <p:sp>
        <p:nvSpPr>
          <p:cNvPr id="3" name="Rectangle 2"/>
          <p:cNvSpPr/>
          <p:nvPr/>
        </p:nvSpPr>
        <p:spPr>
          <a:xfrm>
            <a:off x="566928" y="850392"/>
            <a:ext cx="640080" cy="45720"/>
          </a:xfrm>
          <a:prstGeom prst="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740664"/>
            <a:ext cx="9784080" cy="256032"/>
          </a:xfrm>
          <a:prstGeom prst="rect">
            <a:avLst/>
          </a:prstGeom>
          <a:noFill/>
        </p:spPr>
        <p:txBody>
          <a:bodyPr wrap="square" lIns="27432" rIns="27432" tIns="27432" bIns="27432" anchor="t">
            <a:spAutoFit/>
          </a:bodyPr>
          <a:lstStyle/>
          <a:p>
            <a:pPr algn="l">
              <a:spcAft>
                <a:spcPts val="0"/>
              </a:spcAft>
            </a:pPr>
            <a:r>
              <a:rPr sz="1000" b="0">
                <a:solidFill>
                  <a:srgbClr val="5B6970"/>
                </a:solidFill>
                <a:latin typeface="Arial"/>
              </a:rPr>
              <a:t>Correlation describes linear association; models may also use nonlinear thresholds</a:t>
            </a:r>
          </a:p>
        </p:txBody>
      </p:sp>
      <p:sp>
        <p:nvSpPr>
          <p:cNvPr id="5" name="TextBox 4"/>
          <p:cNvSpPr txBox="1"/>
          <p:nvPr/>
        </p:nvSpPr>
        <p:spPr>
          <a:xfrm>
            <a:off x="566928" y="6556248"/>
            <a:ext cx="5029200" cy="164592"/>
          </a:xfrm>
          <a:prstGeom prst="rect">
            <a:avLst/>
          </a:prstGeom>
          <a:noFill/>
        </p:spPr>
        <p:txBody>
          <a:bodyPr wrap="square" lIns="27432" rIns="27432" tIns="27432" bIns="27432" anchor="t">
            <a:spAutoFit/>
          </a:bodyPr>
          <a:lstStyle/>
          <a:p>
            <a:pPr algn="l">
              <a:spcAft>
                <a:spcPts val="0"/>
              </a:spcAft>
            </a:pPr>
            <a:r>
              <a:rPr sz="800" b="0">
                <a:solidFill>
                  <a:srgbClr val="5B6970"/>
                </a:solidFill>
                <a:latin typeface="Arial"/>
              </a:rPr>
              <a:t>Responsible and Explainable AI | University of Regina</a:t>
            </a:r>
          </a:p>
        </p:txBody>
      </p:sp>
      <p:sp>
        <p:nvSpPr>
          <p:cNvPr id="6" name="TextBox 5"/>
          <p:cNvSpPr txBox="1"/>
          <p:nvPr/>
        </p:nvSpPr>
        <p:spPr>
          <a:xfrm>
            <a:off x="11109960" y="6528816"/>
            <a:ext cx="502920" cy="182880"/>
          </a:xfrm>
          <a:prstGeom prst="rect">
            <a:avLst/>
          </a:prstGeom>
          <a:noFill/>
        </p:spPr>
        <p:txBody>
          <a:bodyPr wrap="square" lIns="27432" rIns="27432" tIns="27432" bIns="27432" anchor="t">
            <a:spAutoFit/>
          </a:bodyPr>
          <a:lstStyle/>
          <a:p>
            <a:pPr algn="r">
              <a:spcAft>
                <a:spcPts val="0"/>
              </a:spcAft>
            </a:pPr>
            <a:r>
              <a:rPr sz="900" b="1">
                <a:solidFill>
                  <a:srgbClr val="5B6970"/>
                </a:solidFill>
                <a:latin typeface="Arial"/>
              </a:rPr>
              <a:t>9</a:t>
            </a:r>
          </a:p>
        </p:txBody>
      </p:sp>
      <p:pic>
        <p:nvPicPr>
          <p:cNvPr id="7" name="Picture 6" descr="feature_correlation_matrix.png"/>
          <p:cNvPicPr>
            <a:picLocks noChangeAspect="1"/>
          </p:cNvPicPr>
          <p:nvPr/>
        </p:nvPicPr>
        <p:blipFill>
          <a:blip r:embed="rId2"/>
          <a:stretch>
            <a:fillRect/>
          </a:stretch>
        </p:blipFill>
        <p:spPr>
          <a:xfrm>
            <a:off x="816769" y="1097280"/>
            <a:ext cx="6367461" cy="5276088"/>
          </a:xfrm>
          <a:prstGeom prst="rect">
            <a:avLst/>
          </a:prstGeom>
        </p:spPr>
      </p:pic>
      <p:sp>
        <p:nvSpPr>
          <p:cNvPr id="8" name="Rounded Rectangle 7"/>
          <p:cNvSpPr/>
          <p:nvPr/>
        </p:nvSpPr>
        <p:spPr>
          <a:xfrm>
            <a:off x="7543800" y="1225296"/>
            <a:ext cx="4050791" cy="4553712"/>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808975" y="1481328"/>
            <a:ext cx="1609344" cy="320040"/>
          </a:xfrm>
          <a:prstGeom prst="round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08975" y="1490472"/>
            <a:ext cx="1609344"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RELATIONSHIPS</a:t>
            </a:r>
          </a:p>
        </p:txBody>
      </p:sp>
      <p:sp>
        <p:nvSpPr>
          <p:cNvPr id="11" name="TextBox 10"/>
          <p:cNvSpPr txBox="1"/>
          <p:nvPr/>
        </p:nvSpPr>
        <p:spPr>
          <a:xfrm>
            <a:off x="7818120" y="1965960"/>
            <a:ext cx="3520440" cy="1280160"/>
          </a:xfrm>
          <a:prstGeom prst="rect">
            <a:avLst/>
          </a:prstGeom>
          <a:noFill/>
        </p:spPr>
        <p:txBody>
          <a:bodyPr wrap="square" lIns="27432" rIns="27432" tIns="27432" bIns="27432" anchor="t">
            <a:spAutoFit/>
          </a:bodyPr>
          <a:lstStyle/>
          <a:p>
            <a:pPr algn="ctr">
              <a:spcAft>
                <a:spcPts val="0"/>
              </a:spcAft>
            </a:pPr>
            <a:r>
              <a:rPr sz="1500" b="1">
                <a:solidFill>
                  <a:srgbClr val="202A30"/>
                </a:solidFill>
                <a:latin typeface="Arial"/>
              </a:rPr>
              <a:t>Temperature difference
Torque x rotational speed
Tool wear x torque
Speed / torque</a:t>
            </a:r>
          </a:p>
        </p:txBody>
      </p:sp>
      <p:sp>
        <p:nvSpPr>
          <p:cNvPr id="12" name="Rounded Rectangle 11"/>
          <p:cNvSpPr/>
          <p:nvPr/>
        </p:nvSpPr>
        <p:spPr>
          <a:xfrm>
            <a:off x="7845552" y="3538728"/>
            <a:ext cx="3456432" cy="932688"/>
          </a:xfrm>
          <a:prstGeom prst="roundRect">
            <a:avLst/>
          </a:prstGeom>
          <a:solidFill>
            <a:srgbClr val="FFFFFF"/>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73568" y="3703320"/>
            <a:ext cx="3200400" cy="219456"/>
          </a:xfrm>
          <a:prstGeom prst="rect">
            <a:avLst/>
          </a:prstGeom>
          <a:noFill/>
        </p:spPr>
        <p:txBody>
          <a:bodyPr wrap="square" lIns="27432" rIns="27432" tIns="27432" bIns="27432" anchor="t">
            <a:spAutoFit/>
          </a:bodyPr>
          <a:lstStyle/>
          <a:p>
            <a:pPr algn="ctr">
              <a:spcAft>
                <a:spcPts val="0"/>
              </a:spcAft>
            </a:pPr>
            <a:r>
              <a:rPr sz="1100" b="1">
                <a:solidFill>
                  <a:srgbClr val="5B6970"/>
                </a:solidFill>
                <a:latin typeface="Arial"/>
              </a:rPr>
              <a:t>Five-fold F1</a:t>
            </a:r>
          </a:p>
        </p:txBody>
      </p:sp>
      <p:sp>
        <p:nvSpPr>
          <p:cNvPr id="14" name="TextBox 13"/>
          <p:cNvSpPr txBox="1"/>
          <p:nvPr/>
        </p:nvSpPr>
        <p:spPr>
          <a:xfrm>
            <a:off x="7982712" y="4005072"/>
            <a:ext cx="3200400" cy="274320"/>
          </a:xfrm>
          <a:prstGeom prst="rect">
            <a:avLst/>
          </a:prstGeom>
          <a:noFill/>
        </p:spPr>
        <p:txBody>
          <a:bodyPr wrap="square" lIns="27432" rIns="27432" tIns="27432" bIns="27432" anchor="t">
            <a:spAutoFit/>
          </a:bodyPr>
          <a:lstStyle/>
          <a:p>
            <a:pPr algn="ctr">
              <a:spcAft>
                <a:spcPts val="0"/>
              </a:spcAft>
            </a:pPr>
            <a:r>
              <a:rPr sz="2200" b="1">
                <a:solidFill>
                  <a:srgbClr val="237470"/>
                </a:solidFill>
                <a:latin typeface="Arial"/>
              </a:rPr>
              <a:t>0.36  -&gt;  0.51</a:t>
            </a:r>
          </a:p>
        </p:txBody>
      </p:sp>
      <p:sp>
        <p:nvSpPr>
          <p:cNvPr id="15" name="TextBox 14"/>
          <p:cNvSpPr txBox="1"/>
          <p:nvPr/>
        </p:nvSpPr>
        <p:spPr>
          <a:xfrm>
            <a:off x="7790688" y="4773168"/>
            <a:ext cx="3566160" cy="640080"/>
          </a:xfrm>
          <a:prstGeom prst="rect">
            <a:avLst/>
          </a:prstGeom>
          <a:noFill/>
        </p:spPr>
        <p:txBody>
          <a:bodyPr wrap="square" lIns="27432" rIns="27432" tIns="27432" bIns="27432" anchor="t">
            <a:spAutoFit/>
          </a:bodyPr>
          <a:lstStyle/>
          <a:p>
            <a:pPr algn="ctr">
              <a:spcAft>
                <a:spcPts val="0"/>
              </a:spcAft>
            </a:pPr>
            <a:r>
              <a:rPr sz="1500" b="1">
                <a:solidFill>
                  <a:srgbClr val="202A30"/>
                </a:solidFill>
                <a:latin typeface="Arial"/>
              </a:rPr>
              <a:t>Low linear correlation does not rule out useful nonlinear decision rules.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57200"/>
          </a:xfrm>
          <a:prstGeom prst="rect">
            <a:avLst/>
          </a:prstGeom>
          <a:noFill/>
        </p:spPr>
        <p:txBody>
          <a:bodyPr wrap="square" lIns="27432" rIns="27432" tIns="27432" bIns="27432" anchor="t">
            <a:spAutoFit/>
          </a:bodyPr>
          <a:lstStyle/>
          <a:p>
            <a:pPr algn="l">
              <a:spcAft>
                <a:spcPts val="0"/>
              </a:spcAft>
            </a:pPr>
            <a:r>
              <a:rPr sz="2500" b="1">
                <a:solidFill>
                  <a:srgbClr val="202A30"/>
                </a:solidFill>
                <a:latin typeface="Arial"/>
              </a:rPr>
              <a:t>Global explanation with SHAP</a:t>
            </a:r>
          </a:p>
        </p:txBody>
      </p:sp>
      <p:sp>
        <p:nvSpPr>
          <p:cNvPr id="3" name="Rectangle 2"/>
          <p:cNvSpPr/>
          <p:nvPr/>
        </p:nvSpPr>
        <p:spPr>
          <a:xfrm>
            <a:off x="566928" y="850392"/>
            <a:ext cx="640080" cy="45720"/>
          </a:xfrm>
          <a:prstGeom prst="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740664"/>
            <a:ext cx="9784080" cy="256032"/>
          </a:xfrm>
          <a:prstGeom prst="rect">
            <a:avLst/>
          </a:prstGeom>
          <a:noFill/>
        </p:spPr>
        <p:txBody>
          <a:bodyPr wrap="square" lIns="27432" rIns="27432" tIns="27432" bIns="27432" anchor="t">
            <a:spAutoFit/>
          </a:bodyPr>
          <a:lstStyle/>
          <a:p>
            <a:pPr algn="l">
              <a:spcAft>
                <a:spcPts val="0"/>
              </a:spcAft>
            </a:pPr>
            <a:r>
              <a:rPr sz="1000" b="0">
                <a:solidFill>
                  <a:srgbClr val="5B6970"/>
                </a:solidFill>
                <a:latin typeface="Arial"/>
              </a:rPr>
              <a:t>Which features influenced the tree across the test records?</a:t>
            </a:r>
          </a:p>
        </p:txBody>
      </p:sp>
      <p:sp>
        <p:nvSpPr>
          <p:cNvPr id="5" name="TextBox 4"/>
          <p:cNvSpPr txBox="1"/>
          <p:nvPr/>
        </p:nvSpPr>
        <p:spPr>
          <a:xfrm>
            <a:off x="566928" y="6556248"/>
            <a:ext cx="5029200" cy="164592"/>
          </a:xfrm>
          <a:prstGeom prst="rect">
            <a:avLst/>
          </a:prstGeom>
          <a:noFill/>
        </p:spPr>
        <p:txBody>
          <a:bodyPr wrap="square" lIns="27432" rIns="27432" tIns="27432" bIns="27432" anchor="t">
            <a:spAutoFit/>
          </a:bodyPr>
          <a:lstStyle/>
          <a:p>
            <a:pPr algn="l">
              <a:spcAft>
                <a:spcPts val="0"/>
              </a:spcAft>
            </a:pPr>
            <a:r>
              <a:rPr sz="800" b="0">
                <a:solidFill>
                  <a:srgbClr val="5B6970"/>
                </a:solidFill>
                <a:latin typeface="Arial"/>
              </a:rPr>
              <a:t>Responsible and Explainable AI | University of Regina</a:t>
            </a:r>
          </a:p>
        </p:txBody>
      </p:sp>
      <p:sp>
        <p:nvSpPr>
          <p:cNvPr id="6" name="TextBox 5"/>
          <p:cNvSpPr txBox="1"/>
          <p:nvPr/>
        </p:nvSpPr>
        <p:spPr>
          <a:xfrm>
            <a:off x="11109960" y="6528816"/>
            <a:ext cx="502920" cy="182880"/>
          </a:xfrm>
          <a:prstGeom prst="rect">
            <a:avLst/>
          </a:prstGeom>
          <a:noFill/>
        </p:spPr>
        <p:txBody>
          <a:bodyPr wrap="square" lIns="27432" rIns="27432" tIns="27432" bIns="27432" anchor="t">
            <a:spAutoFit/>
          </a:bodyPr>
          <a:lstStyle/>
          <a:p>
            <a:pPr algn="r">
              <a:spcAft>
                <a:spcPts val="0"/>
              </a:spcAft>
            </a:pPr>
            <a:r>
              <a:rPr sz="900" b="1">
                <a:solidFill>
                  <a:srgbClr val="5B6970"/>
                </a:solidFill>
                <a:latin typeface="Arial"/>
              </a:rPr>
              <a:t>10</a:t>
            </a:r>
          </a:p>
        </p:txBody>
      </p:sp>
      <p:pic>
        <p:nvPicPr>
          <p:cNvPr id="7" name="Picture 6" descr="shap_global_importance.png"/>
          <p:cNvPicPr>
            <a:picLocks noChangeAspect="1"/>
          </p:cNvPicPr>
          <p:nvPr/>
        </p:nvPicPr>
        <p:blipFill>
          <a:blip r:embed="rId2"/>
          <a:stretch>
            <a:fillRect/>
          </a:stretch>
        </p:blipFill>
        <p:spPr>
          <a:xfrm>
            <a:off x="548640" y="1623990"/>
            <a:ext cx="7543800" cy="4149514"/>
          </a:xfrm>
          <a:prstGeom prst="rect">
            <a:avLst/>
          </a:prstGeom>
        </p:spPr>
      </p:pic>
      <p:sp>
        <p:nvSpPr>
          <p:cNvPr id="8" name="Rounded Rectangle 7"/>
          <p:cNvSpPr/>
          <p:nvPr/>
        </p:nvSpPr>
        <p:spPr>
          <a:xfrm>
            <a:off x="8211312" y="1225296"/>
            <a:ext cx="3401568" cy="4553712"/>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58200" y="1481328"/>
            <a:ext cx="1005840" cy="320040"/>
          </a:xfrm>
          <a:prstGeom prst="roundRect">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0" y="1490472"/>
            <a:ext cx="1005840"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SHAP</a:t>
            </a:r>
          </a:p>
        </p:txBody>
      </p:sp>
      <p:sp>
        <p:nvSpPr>
          <p:cNvPr id="11" name="TextBox 10"/>
          <p:cNvSpPr txBox="1"/>
          <p:nvPr/>
        </p:nvSpPr>
        <p:spPr>
          <a:xfrm>
            <a:off x="8458200" y="1938528"/>
            <a:ext cx="2907792" cy="713232"/>
          </a:xfrm>
          <a:prstGeom prst="rect">
            <a:avLst/>
          </a:prstGeom>
          <a:noFill/>
        </p:spPr>
        <p:txBody>
          <a:bodyPr wrap="square" lIns="27432" rIns="27432" tIns="27432" bIns="27432" anchor="t">
            <a:spAutoFit/>
          </a:bodyPr>
          <a:lstStyle/>
          <a:p>
            <a:pPr algn="ctr">
              <a:spcAft>
                <a:spcPts val="0"/>
              </a:spcAft>
            </a:pPr>
            <a:r>
              <a:rPr sz="1500" b="1">
                <a:solidFill>
                  <a:srgbClr val="202A30"/>
                </a:solidFill>
                <a:latin typeface="Arial"/>
              </a:rPr>
              <a:t>Mean absolute contributions relative to the model baseline</a:t>
            </a:r>
          </a:p>
        </p:txBody>
      </p:sp>
      <p:sp>
        <p:nvSpPr>
          <p:cNvPr id="12" name="TextBox 11"/>
          <p:cNvSpPr txBox="1"/>
          <p:nvPr/>
        </p:nvSpPr>
        <p:spPr>
          <a:xfrm>
            <a:off x="8449056" y="2926080"/>
            <a:ext cx="2926080" cy="1051560"/>
          </a:xfrm>
          <a:prstGeom prst="rect">
            <a:avLst/>
          </a:prstGeom>
          <a:noFill/>
        </p:spPr>
        <p:txBody>
          <a:bodyPr wrap="square" lIns="27432" rIns="27432" tIns="27432" bIns="27432" anchor="t">
            <a:spAutoFit/>
          </a:bodyPr>
          <a:lstStyle/>
          <a:p>
            <a:pPr algn="ctr">
              <a:spcAft>
                <a:spcPts val="0"/>
              </a:spcAft>
            </a:pPr>
            <a:r>
              <a:rPr sz="1600" b="1">
                <a:solidFill>
                  <a:srgbClr val="237470"/>
                </a:solidFill>
                <a:latin typeface="Arial"/>
              </a:rPr>
              <a:t>Main tree influences
1. Rotational speed
2. Torque
3. Tool wear</a:t>
            </a:r>
          </a:p>
        </p:txBody>
      </p:sp>
      <p:sp>
        <p:nvSpPr>
          <p:cNvPr id="13" name="TextBox 12"/>
          <p:cNvSpPr txBox="1"/>
          <p:nvPr/>
        </p:nvSpPr>
        <p:spPr>
          <a:xfrm>
            <a:off x="8430768" y="4224528"/>
            <a:ext cx="2962656" cy="658368"/>
          </a:xfrm>
          <a:prstGeom prst="rect">
            <a:avLst/>
          </a:prstGeom>
          <a:noFill/>
        </p:spPr>
        <p:txBody>
          <a:bodyPr wrap="square" lIns="27432" rIns="27432" tIns="27432" bIns="27432" anchor="t">
            <a:spAutoFit/>
          </a:bodyPr>
          <a:lstStyle/>
          <a:p>
            <a:pPr algn="ctr">
              <a:spcAft>
                <a:spcPts val="0"/>
              </a:spcAft>
            </a:pPr>
            <a:r>
              <a:rPr sz="1400" b="1">
                <a:solidFill>
                  <a:srgbClr val="202A30"/>
                </a:solidFill>
                <a:latin typeface="Arial"/>
              </a:rPr>
              <a:t>Longer bars mean greater average influence, not direction.</a:t>
            </a:r>
          </a:p>
        </p:txBody>
      </p:sp>
      <p:sp>
        <p:nvSpPr>
          <p:cNvPr id="14" name="TextBox 13"/>
          <p:cNvSpPr txBox="1"/>
          <p:nvPr/>
        </p:nvSpPr>
        <p:spPr>
          <a:xfrm>
            <a:off x="8430768" y="5303520"/>
            <a:ext cx="2962656" cy="320040"/>
          </a:xfrm>
          <a:prstGeom prst="rect">
            <a:avLst/>
          </a:prstGeom>
          <a:noFill/>
        </p:spPr>
        <p:txBody>
          <a:bodyPr wrap="square" lIns="27432" rIns="27432" tIns="27432" bIns="27432" anchor="t">
            <a:spAutoFit/>
          </a:bodyPr>
          <a:lstStyle/>
          <a:p>
            <a:pPr algn="ctr">
              <a:spcAft>
                <a:spcPts val="0"/>
              </a:spcAft>
            </a:pPr>
            <a:r>
              <a:rPr sz="1300" b="1">
                <a:solidFill>
                  <a:srgbClr val="B2433D"/>
                </a:solidFill>
                <a:latin typeface="Arial"/>
              </a:rPr>
              <a:t>Explanation is not causality.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57200"/>
          </a:xfrm>
          <a:prstGeom prst="rect">
            <a:avLst/>
          </a:prstGeom>
          <a:noFill/>
        </p:spPr>
        <p:txBody>
          <a:bodyPr wrap="square" lIns="27432" rIns="27432" tIns="27432" bIns="27432" anchor="t">
            <a:spAutoFit/>
          </a:bodyPr>
          <a:lstStyle/>
          <a:p>
            <a:pPr algn="l">
              <a:spcAft>
                <a:spcPts val="0"/>
              </a:spcAft>
            </a:pPr>
            <a:r>
              <a:rPr sz="2500" b="1">
                <a:solidFill>
                  <a:srgbClr val="202A30"/>
                </a:solidFill>
                <a:latin typeface="Arial"/>
              </a:rPr>
              <a:t>Local explanation with LIME</a:t>
            </a:r>
          </a:p>
        </p:txBody>
      </p:sp>
      <p:sp>
        <p:nvSpPr>
          <p:cNvPr id="3" name="Rectangle 2"/>
          <p:cNvSpPr/>
          <p:nvPr/>
        </p:nvSpPr>
        <p:spPr>
          <a:xfrm>
            <a:off x="566928" y="850392"/>
            <a:ext cx="640080" cy="45720"/>
          </a:xfrm>
          <a:prstGeom prst="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740664"/>
            <a:ext cx="9784080" cy="256032"/>
          </a:xfrm>
          <a:prstGeom prst="rect">
            <a:avLst/>
          </a:prstGeom>
          <a:noFill/>
        </p:spPr>
        <p:txBody>
          <a:bodyPr wrap="square" lIns="27432" rIns="27432" tIns="27432" bIns="27432" anchor="t">
            <a:spAutoFit/>
          </a:bodyPr>
          <a:lstStyle/>
          <a:p>
            <a:pPr algn="l">
              <a:spcAft>
                <a:spcPts val="0"/>
              </a:spcAft>
            </a:pPr>
            <a:r>
              <a:rPr sz="1000" b="0">
                <a:solidFill>
                  <a:srgbClr val="5B6970"/>
                </a:solidFill>
                <a:latin typeface="Arial"/>
              </a:rPr>
              <a:t>A missed failure shows why explanation fidelity must also be evaluated</a:t>
            </a:r>
          </a:p>
        </p:txBody>
      </p:sp>
      <p:sp>
        <p:nvSpPr>
          <p:cNvPr id="5" name="TextBox 4"/>
          <p:cNvSpPr txBox="1"/>
          <p:nvPr/>
        </p:nvSpPr>
        <p:spPr>
          <a:xfrm>
            <a:off x="566928" y="6556248"/>
            <a:ext cx="5029200" cy="164592"/>
          </a:xfrm>
          <a:prstGeom prst="rect">
            <a:avLst/>
          </a:prstGeom>
          <a:noFill/>
        </p:spPr>
        <p:txBody>
          <a:bodyPr wrap="square" lIns="27432" rIns="27432" tIns="27432" bIns="27432" anchor="t">
            <a:spAutoFit/>
          </a:bodyPr>
          <a:lstStyle/>
          <a:p>
            <a:pPr algn="l">
              <a:spcAft>
                <a:spcPts val="0"/>
              </a:spcAft>
            </a:pPr>
            <a:r>
              <a:rPr sz="800" b="0">
                <a:solidFill>
                  <a:srgbClr val="5B6970"/>
                </a:solidFill>
                <a:latin typeface="Arial"/>
              </a:rPr>
              <a:t>Responsible and Explainable AI | University of Regina</a:t>
            </a:r>
          </a:p>
        </p:txBody>
      </p:sp>
      <p:sp>
        <p:nvSpPr>
          <p:cNvPr id="6" name="TextBox 5"/>
          <p:cNvSpPr txBox="1"/>
          <p:nvPr/>
        </p:nvSpPr>
        <p:spPr>
          <a:xfrm>
            <a:off x="11109960" y="6528816"/>
            <a:ext cx="502920" cy="182880"/>
          </a:xfrm>
          <a:prstGeom prst="rect">
            <a:avLst/>
          </a:prstGeom>
          <a:noFill/>
        </p:spPr>
        <p:txBody>
          <a:bodyPr wrap="square" lIns="27432" rIns="27432" tIns="27432" bIns="27432" anchor="t">
            <a:spAutoFit/>
          </a:bodyPr>
          <a:lstStyle/>
          <a:p>
            <a:pPr algn="r">
              <a:spcAft>
                <a:spcPts val="0"/>
              </a:spcAft>
            </a:pPr>
            <a:r>
              <a:rPr sz="900" b="1">
                <a:solidFill>
                  <a:srgbClr val="5B6970"/>
                </a:solidFill>
                <a:latin typeface="Arial"/>
              </a:rPr>
              <a:t>11</a:t>
            </a:r>
          </a:p>
        </p:txBody>
      </p:sp>
      <p:pic>
        <p:nvPicPr>
          <p:cNvPr id="7" name="Picture 6" descr="local_false_negative_shap_lime.png"/>
          <p:cNvPicPr>
            <a:picLocks noChangeAspect="1"/>
          </p:cNvPicPr>
          <p:nvPr/>
        </p:nvPicPr>
        <p:blipFill>
          <a:blip r:embed="rId2"/>
          <a:stretch>
            <a:fillRect/>
          </a:stretch>
        </p:blipFill>
        <p:spPr>
          <a:xfrm>
            <a:off x="502920" y="1999008"/>
            <a:ext cx="8366760" cy="3271463"/>
          </a:xfrm>
          <a:prstGeom prst="rect">
            <a:avLst/>
          </a:prstGeom>
        </p:spPr>
      </p:pic>
      <p:sp>
        <p:nvSpPr>
          <p:cNvPr id="8" name="Rounded Rectangle 7"/>
          <p:cNvSpPr/>
          <p:nvPr/>
        </p:nvSpPr>
        <p:spPr>
          <a:xfrm>
            <a:off x="9034272" y="1234440"/>
            <a:ext cx="2578608" cy="4526280"/>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262872" y="1481328"/>
            <a:ext cx="914400" cy="320040"/>
          </a:xfrm>
          <a:prstGeom prst="round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62872" y="1490472"/>
            <a:ext cx="914400"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LIME</a:t>
            </a:r>
          </a:p>
        </p:txBody>
      </p:sp>
      <p:sp>
        <p:nvSpPr>
          <p:cNvPr id="11" name="Oval 10"/>
          <p:cNvSpPr/>
          <p:nvPr/>
        </p:nvSpPr>
        <p:spPr>
          <a:xfrm>
            <a:off x="9253728" y="2039112"/>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36607" y="1938528"/>
            <a:ext cx="1965960" cy="502919"/>
          </a:xfrm>
          <a:prstGeom prst="rect">
            <a:avLst/>
          </a:prstGeom>
          <a:noFill/>
        </p:spPr>
        <p:txBody>
          <a:bodyPr wrap="square" lIns="27432" rIns="27432" tIns="27432" bIns="27432" anchor="t">
            <a:spAutoFit/>
          </a:bodyPr>
          <a:lstStyle/>
          <a:p>
            <a:pPr algn="l">
              <a:spcAft>
                <a:spcPts val="0"/>
              </a:spcAft>
            </a:pPr>
            <a:r>
              <a:rPr sz="1200" b="0">
                <a:solidFill>
                  <a:srgbClr val="202A30"/>
                </a:solidFill>
                <a:latin typeface="Arial"/>
              </a:rPr>
              <a:t>Perturb one record</a:t>
            </a:r>
          </a:p>
        </p:txBody>
      </p:sp>
      <p:sp>
        <p:nvSpPr>
          <p:cNvPr id="13" name="Oval 12"/>
          <p:cNvSpPr/>
          <p:nvPr/>
        </p:nvSpPr>
        <p:spPr>
          <a:xfrm>
            <a:off x="9253728" y="2569464"/>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36607" y="2468880"/>
            <a:ext cx="1965960" cy="502919"/>
          </a:xfrm>
          <a:prstGeom prst="rect">
            <a:avLst/>
          </a:prstGeom>
          <a:noFill/>
        </p:spPr>
        <p:txBody>
          <a:bodyPr wrap="square" lIns="27432" rIns="27432" tIns="27432" bIns="27432" anchor="t">
            <a:spAutoFit/>
          </a:bodyPr>
          <a:lstStyle/>
          <a:p>
            <a:pPr algn="l">
              <a:spcAft>
                <a:spcPts val="0"/>
              </a:spcAft>
            </a:pPr>
            <a:r>
              <a:rPr sz="1200" b="0">
                <a:solidFill>
                  <a:srgbClr val="202A30"/>
                </a:solidFill>
                <a:latin typeface="Arial"/>
              </a:rPr>
              <a:t>Query the classifier</a:t>
            </a:r>
          </a:p>
        </p:txBody>
      </p:sp>
      <p:sp>
        <p:nvSpPr>
          <p:cNvPr id="15" name="Oval 14"/>
          <p:cNvSpPr/>
          <p:nvPr/>
        </p:nvSpPr>
        <p:spPr>
          <a:xfrm>
            <a:off x="9253728" y="3099816"/>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36607" y="2999232"/>
            <a:ext cx="1965960" cy="502919"/>
          </a:xfrm>
          <a:prstGeom prst="rect">
            <a:avLst/>
          </a:prstGeom>
          <a:noFill/>
        </p:spPr>
        <p:txBody>
          <a:bodyPr wrap="square" lIns="27432" rIns="27432" tIns="27432" bIns="27432" anchor="t">
            <a:spAutoFit/>
          </a:bodyPr>
          <a:lstStyle/>
          <a:p>
            <a:pPr algn="l">
              <a:spcAft>
                <a:spcPts val="0"/>
              </a:spcAft>
            </a:pPr>
            <a:r>
              <a:rPr sz="1200" b="0">
                <a:solidFill>
                  <a:srgbClr val="202A30"/>
                </a:solidFill>
                <a:latin typeface="Arial"/>
              </a:rPr>
              <a:t>Fit a weighted local surrogate</a:t>
            </a:r>
          </a:p>
        </p:txBody>
      </p:sp>
      <p:sp>
        <p:nvSpPr>
          <p:cNvPr id="17" name="Oval 16"/>
          <p:cNvSpPr/>
          <p:nvPr/>
        </p:nvSpPr>
        <p:spPr>
          <a:xfrm>
            <a:off x="9253728" y="3630168"/>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36607" y="3529584"/>
            <a:ext cx="1965960" cy="502919"/>
          </a:xfrm>
          <a:prstGeom prst="rect">
            <a:avLst/>
          </a:prstGeom>
          <a:noFill/>
        </p:spPr>
        <p:txBody>
          <a:bodyPr wrap="square" lIns="27432" rIns="27432" tIns="27432" bIns="27432" anchor="t">
            <a:spAutoFit/>
          </a:bodyPr>
          <a:lstStyle/>
          <a:p>
            <a:pPr algn="l">
              <a:spcAft>
                <a:spcPts val="0"/>
              </a:spcAft>
            </a:pPr>
            <a:r>
              <a:rPr sz="1200" b="0">
                <a:solidFill>
                  <a:srgbClr val="202A30"/>
                </a:solidFill>
                <a:latin typeface="Arial"/>
              </a:rPr>
              <a:t>Report supporting and opposing features</a:t>
            </a:r>
          </a:p>
        </p:txBody>
      </p:sp>
      <p:sp>
        <p:nvSpPr>
          <p:cNvPr id="19" name="Rounded Rectangle 18"/>
          <p:cNvSpPr/>
          <p:nvPr/>
        </p:nvSpPr>
        <p:spPr>
          <a:xfrm>
            <a:off x="9235440" y="4315968"/>
            <a:ext cx="2176272" cy="932688"/>
          </a:xfrm>
          <a:prstGeom prst="roundRect">
            <a:avLst/>
          </a:prstGeom>
          <a:solidFill>
            <a:srgbClr val="FAEBDC"/>
          </a:solidFill>
          <a:ln w="10160">
            <a:solidFill>
              <a:srgbClr val="E27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4453128"/>
            <a:ext cx="1993392" cy="237744"/>
          </a:xfrm>
          <a:prstGeom prst="rect">
            <a:avLst/>
          </a:prstGeom>
          <a:noFill/>
        </p:spPr>
        <p:txBody>
          <a:bodyPr wrap="square" lIns="27432" rIns="27432" tIns="27432" bIns="27432" anchor="t">
            <a:spAutoFit/>
          </a:bodyPr>
          <a:lstStyle/>
          <a:p>
            <a:pPr algn="ctr">
              <a:spcAft>
                <a:spcPts val="0"/>
              </a:spcAft>
            </a:pPr>
            <a:r>
              <a:rPr sz="1100" b="1">
                <a:solidFill>
                  <a:srgbClr val="5B6970"/>
                </a:solidFill>
                <a:latin typeface="Arial"/>
              </a:rPr>
              <a:t>False-negative fidelity</a:t>
            </a:r>
          </a:p>
        </p:txBody>
      </p:sp>
      <p:sp>
        <p:nvSpPr>
          <p:cNvPr id="21" name="TextBox 20"/>
          <p:cNvSpPr txBox="1"/>
          <p:nvPr/>
        </p:nvSpPr>
        <p:spPr>
          <a:xfrm>
            <a:off x="9326880" y="4773168"/>
            <a:ext cx="1993392" cy="256032"/>
          </a:xfrm>
          <a:prstGeom prst="rect">
            <a:avLst/>
          </a:prstGeom>
          <a:noFill/>
        </p:spPr>
        <p:txBody>
          <a:bodyPr wrap="square" lIns="27432" rIns="27432" tIns="27432" bIns="27432" anchor="t">
            <a:spAutoFit/>
          </a:bodyPr>
          <a:lstStyle/>
          <a:p>
            <a:pPr algn="ctr">
              <a:spcAft>
                <a:spcPts val="0"/>
              </a:spcAft>
            </a:pPr>
            <a:r>
              <a:rPr sz="1800" b="1">
                <a:solidFill>
                  <a:srgbClr val="B2433D"/>
                </a:solidFill>
                <a:latin typeface="Arial"/>
              </a:rPr>
              <a:t>mean R² = 0.097</a:t>
            </a:r>
          </a:p>
        </p:txBody>
      </p:sp>
      <p:sp>
        <p:nvSpPr>
          <p:cNvPr id="22" name="TextBox 21"/>
          <p:cNvSpPr txBox="1"/>
          <p:nvPr/>
        </p:nvSpPr>
        <p:spPr>
          <a:xfrm>
            <a:off x="9125712" y="5504688"/>
            <a:ext cx="2395728" cy="457200"/>
          </a:xfrm>
          <a:prstGeom prst="rect">
            <a:avLst/>
          </a:prstGeom>
          <a:noFill/>
        </p:spPr>
        <p:txBody>
          <a:bodyPr wrap="square" lIns="27432" rIns="27432" tIns="27432" bIns="27432" anchor="t">
            <a:spAutoFit/>
          </a:bodyPr>
          <a:lstStyle/>
          <a:p>
            <a:pPr algn="ctr">
              <a:spcAft>
                <a:spcPts val="0"/>
              </a:spcAft>
            </a:pPr>
            <a:r>
              <a:rPr sz="1300" b="1">
                <a:solidFill>
                  <a:srgbClr val="237470"/>
                </a:solidFill>
                <a:latin typeface="Arial"/>
              </a:rPr>
              <a:t>Readable does not always mean faithful.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57200"/>
          </a:xfrm>
          <a:prstGeom prst="rect">
            <a:avLst/>
          </a:prstGeom>
          <a:noFill/>
        </p:spPr>
        <p:txBody>
          <a:bodyPr wrap="square" lIns="27432" rIns="27432" tIns="27432" bIns="27432" anchor="t">
            <a:spAutoFit/>
          </a:bodyPr>
          <a:lstStyle/>
          <a:p>
            <a:pPr algn="l">
              <a:spcAft>
                <a:spcPts val="0"/>
              </a:spcAft>
            </a:pPr>
            <a:r>
              <a:rPr sz="2500" b="1">
                <a:solidFill>
                  <a:srgbClr val="202A30"/>
                </a:solidFill>
                <a:latin typeface="Arial"/>
              </a:rPr>
              <a:t>Threshold tuning and Responsible AI</a:t>
            </a:r>
          </a:p>
        </p:txBody>
      </p:sp>
      <p:sp>
        <p:nvSpPr>
          <p:cNvPr id="3" name="Rectangle 2"/>
          <p:cNvSpPr/>
          <p:nvPr/>
        </p:nvSpPr>
        <p:spPr>
          <a:xfrm>
            <a:off x="566928" y="850392"/>
            <a:ext cx="640080" cy="45720"/>
          </a:xfrm>
          <a:prstGeom prst="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740664"/>
            <a:ext cx="9784080" cy="256032"/>
          </a:xfrm>
          <a:prstGeom prst="rect">
            <a:avLst/>
          </a:prstGeom>
          <a:noFill/>
        </p:spPr>
        <p:txBody>
          <a:bodyPr wrap="square" lIns="27432" rIns="27432" tIns="27432" bIns="27432" anchor="t">
            <a:spAutoFit/>
          </a:bodyPr>
          <a:lstStyle/>
          <a:p>
            <a:pPr algn="l">
              <a:spcAft>
                <a:spcPts val="0"/>
              </a:spcAft>
            </a:pPr>
            <a:r>
              <a:rPr sz="1000" b="0">
                <a:solidFill>
                  <a:srgbClr val="5B6970"/>
                </a:solidFill>
                <a:latin typeface="Arial"/>
              </a:rPr>
              <a:t>The decision threshold changes who receives a failure alarm</a:t>
            </a:r>
          </a:p>
        </p:txBody>
      </p:sp>
      <p:sp>
        <p:nvSpPr>
          <p:cNvPr id="5" name="TextBox 4"/>
          <p:cNvSpPr txBox="1"/>
          <p:nvPr/>
        </p:nvSpPr>
        <p:spPr>
          <a:xfrm>
            <a:off x="566928" y="6556248"/>
            <a:ext cx="5029200" cy="164592"/>
          </a:xfrm>
          <a:prstGeom prst="rect">
            <a:avLst/>
          </a:prstGeom>
          <a:noFill/>
        </p:spPr>
        <p:txBody>
          <a:bodyPr wrap="square" lIns="27432" rIns="27432" tIns="27432" bIns="27432" anchor="t">
            <a:spAutoFit/>
          </a:bodyPr>
          <a:lstStyle/>
          <a:p>
            <a:pPr algn="l">
              <a:spcAft>
                <a:spcPts val="0"/>
              </a:spcAft>
            </a:pPr>
            <a:r>
              <a:rPr sz="800" b="0">
                <a:solidFill>
                  <a:srgbClr val="5B6970"/>
                </a:solidFill>
                <a:latin typeface="Arial"/>
              </a:rPr>
              <a:t>Responsible and Explainable AI | University of Regina</a:t>
            </a:r>
          </a:p>
        </p:txBody>
      </p:sp>
      <p:sp>
        <p:nvSpPr>
          <p:cNvPr id="6" name="TextBox 5"/>
          <p:cNvSpPr txBox="1"/>
          <p:nvPr/>
        </p:nvSpPr>
        <p:spPr>
          <a:xfrm>
            <a:off x="11109960" y="6528816"/>
            <a:ext cx="502920" cy="182880"/>
          </a:xfrm>
          <a:prstGeom prst="rect">
            <a:avLst/>
          </a:prstGeom>
          <a:noFill/>
        </p:spPr>
        <p:txBody>
          <a:bodyPr wrap="square" lIns="27432" rIns="27432" tIns="27432" bIns="27432" anchor="t">
            <a:spAutoFit/>
          </a:bodyPr>
          <a:lstStyle/>
          <a:p>
            <a:pPr algn="r">
              <a:spcAft>
                <a:spcPts val="0"/>
              </a:spcAft>
            </a:pPr>
            <a:r>
              <a:rPr sz="900" b="1">
                <a:solidFill>
                  <a:srgbClr val="5B6970"/>
                </a:solidFill>
                <a:latin typeface="Arial"/>
              </a:rPr>
              <a:t>12</a:t>
            </a:r>
          </a:p>
        </p:txBody>
      </p:sp>
      <p:pic>
        <p:nvPicPr>
          <p:cNvPr id="7" name="Picture 6" descr="threshold_tuning_precision_recall_f1.png"/>
          <p:cNvPicPr>
            <a:picLocks noChangeAspect="1"/>
          </p:cNvPicPr>
          <p:nvPr/>
        </p:nvPicPr>
        <p:blipFill>
          <a:blip r:embed="rId2"/>
          <a:stretch>
            <a:fillRect/>
          </a:stretch>
        </p:blipFill>
        <p:spPr>
          <a:xfrm>
            <a:off x="566928" y="1497308"/>
            <a:ext cx="7132320" cy="4412023"/>
          </a:xfrm>
          <a:prstGeom prst="rect">
            <a:avLst/>
          </a:prstGeom>
        </p:spPr>
      </p:pic>
      <p:graphicFrame>
        <p:nvGraphicFramePr>
          <p:cNvPr id="8" name="Table 7"/>
          <p:cNvGraphicFramePr>
            <a:graphicFrameLocks noGrp="1"/>
          </p:cNvGraphicFramePr>
          <p:nvPr/>
        </p:nvGraphicFramePr>
        <p:xfrm>
          <a:off x="7891272" y="1298448"/>
          <a:ext cx="3611880" cy="1536192"/>
        </p:xfrm>
        <a:graphic>
          <a:graphicData uri="http://schemas.openxmlformats.org/drawingml/2006/table">
            <a:tbl>
              <a:tblPr firstRow="1" bandRow="1">
                <a:tableStyleId>{5C22544A-7EE6-4342-B048-85BDC9FD1C3A}</a:tableStyleId>
              </a:tblPr>
              <a:tblGrid>
                <a:gridCol w="822960"/>
                <a:gridCol w="960120"/>
                <a:gridCol w="1051560"/>
                <a:gridCol w="777240"/>
              </a:tblGrid>
              <a:tr h="512064">
                <a:tc>
                  <a:txBody>
                    <a:bodyPr wrap="square" anchor="ctr"/>
                    <a:lstStyle/>
                    <a:p>
                      <a:pPr algn="ctr">
                        <a:spcAft>
                          <a:spcPts val="0"/>
                        </a:spcAft>
                      </a:pPr>
                      <a:r>
                        <a:rPr sz="900" b="1">
                          <a:solidFill>
                            <a:srgbClr val="FFFFFF"/>
                          </a:solidFill>
                          <a:latin typeface="Arial"/>
                        </a:rPr>
                        <a:t>Threshold</a:t>
                      </a:r>
                    </a:p>
                  </a:txBody>
                  <a:tcPr marL="45720" marR="45720" marT="27432" marB="27432">
                    <a:solidFill>
                      <a:srgbClr val="237470"/>
                    </a:solidFill>
                  </a:tcPr>
                </a:tc>
                <a:tc>
                  <a:txBody>
                    <a:bodyPr wrap="square" anchor="ctr"/>
                    <a:lstStyle/>
                    <a:p>
                      <a:pPr algn="ctr">
                        <a:spcAft>
                          <a:spcPts val="0"/>
                        </a:spcAft>
                      </a:pPr>
                      <a:r>
                        <a:rPr sz="900" b="1">
                          <a:solidFill>
                            <a:srgbClr val="FFFFFF"/>
                          </a:solidFill>
                          <a:latin typeface="Arial"/>
                        </a:rPr>
                        <a:t>Detected</a:t>
                      </a:r>
                    </a:p>
                  </a:txBody>
                  <a:tcPr marL="45720" marR="45720" marT="27432" marB="27432">
                    <a:solidFill>
                      <a:srgbClr val="237470"/>
                    </a:solidFill>
                  </a:tcPr>
                </a:tc>
                <a:tc>
                  <a:txBody>
                    <a:bodyPr wrap="square" anchor="ctr"/>
                    <a:lstStyle/>
                    <a:p>
                      <a:pPr algn="ctr">
                        <a:spcAft>
                          <a:spcPts val="0"/>
                        </a:spcAft>
                      </a:pPr>
                      <a:r>
                        <a:rPr sz="900" b="1">
                          <a:solidFill>
                            <a:srgbClr val="FFFFFF"/>
                          </a:solidFill>
                          <a:latin typeface="Arial"/>
                        </a:rPr>
                        <a:t>False alarms</a:t>
                      </a:r>
                    </a:p>
                  </a:txBody>
                  <a:tcPr marL="45720" marR="45720" marT="27432" marB="27432">
                    <a:solidFill>
                      <a:srgbClr val="237470"/>
                    </a:solidFill>
                  </a:tcPr>
                </a:tc>
                <a:tc>
                  <a:txBody>
                    <a:bodyPr wrap="square" anchor="ctr"/>
                    <a:lstStyle/>
                    <a:p>
                      <a:pPr algn="ctr">
                        <a:spcAft>
                          <a:spcPts val="0"/>
                        </a:spcAft>
                      </a:pPr>
                      <a:r>
                        <a:rPr sz="900" b="1">
                          <a:solidFill>
                            <a:srgbClr val="FFFFFF"/>
                          </a:solidFill>
                          <a:latin typeface="Arial"/>
                        </a:rPr>
                        <a:t>Missed</a:t>
                      </a:r>
                    </a:p>
                  </a:txBody>
                  <a:tcPr marL="45720" marR="45720" marT="27432" marB="27432">
                    <a:solidFill>
                      <a:srgbClr val="237470"/>
                    </a:solidFill>
                  </a:tcPr>
                </a:tc>
              </a:tr>
              <a:tr h="512064">
                <a:tc>
                  <a:txBody>
                    <a:bodyPr wrap="square" anchor="ctr"/>
                    <a:lstStyle/>
                    <a:p>
                      <a:pPr algn="l">
                        <a:spcAft>
                          <a:spcPts val="0"/>
                        </a:spcAft>
                      </a:pPr>
                      <a:r>
                        <a:rPr sz="900" b="0">
                          <a:solidFill>
                            <a:srgbClr val="202A30"/>
                          </a:solidFill>
                          <a:latin typeface="Arial"/>
                        </a:rPr>
                        <a:t>0.5</a:t>
                      </a:r>
                    </a:p>
                  </a:txBody>
                  <a:tcPr marL="45720" marR="45720" marT="27432" marB="27432">
                    <a:solidFill>
                      <a:srgbClr val="FFFFFF"/>
                    </a:solidFill>
                  </a:tcPr>
                </a:tc>
                <a:tc>
                  <a:txBody>
                    <a:bodyPr wrap="square" anchor="ctr"/>
                    <a:lstStyle/>
                    <a:p>
                      <a:pPr algn="ctr">
                        <a:spcAft>
                          <a:spcPts val="0"/>
                        </a:spcAft>
                      </a:pPr>
                      <a:r>
                        <a:rPr sz="900" b="0">
                          <a:solidFill>
                            <a:srgbClr val="202A30"/>
                          </a:solidFill>
                          <a:latin typeface="Arial"/>
                        </a:rPr>
                        <a:t>63 / 68</a:t>
                      </a:r>
                    </a:p>
                  </a:txBody>
                  <a:tcPr marL="45720" marR="45720" marT="27432" marB="27432">
                    <a:solidFill>
                      <a:srgbClr val="FFFFFF"/>
                    </a:solidFill>
                  </a:tcPr>
                </a:tc>
                <a:tc>
                  <a:txBody>
                    <a:bodyPr wrap="square" anchor="ctr"/>
                    <a:lstStyle/>
                    <a:p>
                      <a:pPr algn="ctr">
                        <a:spcAft>
                          <a:spcPts val="0"/>
                        </a:spcAft>
                      </a:pPr>
                      <a:r>
                        <a:rPr sz="900" b="0">
                          <a:solidFill>
                            <a:srgbClr val="202A30"/>
                          </a:solidFill>
                          <a:latin typeface="Arial"/>
                        </a:rPr>
                        <a:t>143</a:t>
                      </a:r>
                    </a:p>
                  </a:txBody>
                  <a:tcPr marL="45720" marR="45720" marT="27432" marB="27432">
                    <a:solidFill>
                      <a:srgbClr val="FFFFFF"/>
                    </a:solidFill>
                  </a:tcPr>
                </a:tc>
                <a:tc>
                  <a:txBody>
                    <a:bodyPr wrap="square" anchor="ctr"/>
                    <a:lstStyle/>
                    <a:p>
                      <a:pPr algn="ctr">
                        <a:spcAft>
                          <a:spcPts val="0"/>
                        </a:spcAft>
                      </a:pPr>
                      <a:r>
                        <a:rPr sz="900" b="0">
                          <a:solidFill>
                            <a:srgbClr val="202A30"/>
                          </a:solidFill>
                          <a:latin typeface="Arial"/>
                        </a:rPr>
                        <a:t>5</a:t>
                      </a:r>
                    </a:p>
                  </a:txBody>
                  <a:tcPr marL="45720" marR="45720" marT="27432" marB="27432">
                    <a:solidFill>
                      <a:srgbClr val="FFFFFF"/>
                    </a:solidFill>
                  </a:tcPr>
                </a:tc>
              </a:tr>
              <a:tr h="512064">
                <a:tc>
                  <a:txBody>
                    <a:bodyPr wrap="square" anchor="ctr"/>
                    <a:lstStyle/>
                    <a:p>
                      <a:pPr algn="l">
                        <a:spcAft>
                          <a:spcPts val="0"/>
                        </a:spcAft>
                      </a:pPr>
                      <a:r>
                        <a:rPr sz="900" b="0">
                          <a:solidFill>
                            <a:srgbClr val="202A30"/>
                          </a:solidFill>
                          <a:latin typeface="Arial"/>
                        </a:rPr>
                        <a:t>0.8</a:t>
                      </a:r>
                    </a:p>
                  </a:txBody>
                  <a:tcPr marL="45720" marR="45720" marT="27432" marB="27432">
                    <a:solidFill>
                      <a:srgbClr val="F2F6F7"/>
                    </a:solidFill>
                  </a:tcPr>
                </a:tc>
                <a:tc>
                  <a:txBody>
                    <a:bodyPr wrap="square" anchor="ctr"/>
                    <a:lstStyle/>
                    <a:p>
                      <a:pPr algn="ctr">
                        <a:spcAft>
                          <a:spcPts val="0"/>
                        </a:spcAft>
                      </a:pPr>
                      <a:r>
                        <a:rPr sz="900" b="0">
                          <a:solidFill>
                            <a:srgbClr val="202A30"/>
                          </a:solidFill>
                          <a:latin typeface="Arial"/>
                        </a:rPr>
                        <a:t>59 / 68</a:t>
                      </a:r>
                    </a:p>
                  </a:txBody>
                  <a:tcPr marL="45720" marR="45720" marT="27432" marB="27432">
                    <a:solidFill>
                      <a:srgbClr val="F2F6F7"/>
                    </a:solidFill>
                  </a:tcPr>
                </a:tc>
                <a:tc>
                  <a:txBody>
                    <a:bodyPr wrap="square" anchor="ctr"/>
                    <a:lstStyle/>
                    <a:p>
                      <a:pPr algn="ctr">
                        <a:spcAft>
                          <a:spcPts val="0"/>
                        </a:spcAft>
                      </a:pPr>
                      <a:r>
                        <a:rPr sz="900" b="0">
                          <a:solidFill>
                            <a:srgbClr val="202A30"/>
                          </a:solidFill>
                          <a:latin typeface="Arial"/>
                        </a:rPr>
                        <a:t>84</a:t>
                      </a:r>
                    </a:p>
                  </a:txBody>
                  <a:tcPr marL="45720" marR="45720" marT="27432" marB="27432">
                    <a:solidFill>
                      <a:srgbClr val="F2F6F7"/>
                    </a:solidFill>
                  </a:tcPr>
                </a:tc>
                <a:tc>
                  <a:txBody>
                    <a:bodyPr wrap="square" anchor="ctr"/>
                    <a:lstStyle/>
                    <a:p>
                      <a:pPr algn="ctr">
                        <a:spcAft>
                          <a:spcPts val="0"/>
                        </a:spcAft>
                      </a:pPr>
                      <a:r>
                        <a:rPr sz="900" b="0">
                          <a:solidFill>
                            <a:srgbClr val="202A30"/>
                          </a:solidFill>
                          <a:latin typeface="Arial"/>
                        </a:rPr>
                        <a:t>9</a:t>
                      </a:r>
                    </a:p>
                  </a:txBody>
                  <a:tcPr marL="45720" marR="45720" marT="27432" marB="27432">
                    <a:solidFill>
                      <a:srgbClr val="F2F6F7"/>
                    </a:solidFill>
                  </a:tcPr>
                </a:tc>
              </a:tr>
            </a:tbl>
          </a:graphicData>
        </a:graphic>
      </p:graphicFrame>
      <p:sp>
        <p:nvSpPr>
          <p:cNvPr id="9" name="Rounded Rectangle 8"/>
          <p:cNvSpPr/>
          <p:nvPr/>
        </p:nvSpPr>
        <p:spPr>
          <a:xfrm>
            <a:off x="7891272" y="3127248"/>
            <a:ext cx="3611880" cy="2487168"/>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65592" y="3383280"/>
            <a:ext cx="1508760" cy="320040"/>
          </a:xfrm>
          <a:prstGeom prst="round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65592" y="3392424"/>
            <a:ext cx="1508760"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RESPONSIBLE AI</a:t>
            </a:r>
          </a:p>
        </p:txBody>
      </p:sp>
      <p:sp>
        <p:nvSpPr>
          <p:cNvPr id="12" name="Oval 11"/>
          <p:cNvSpPr/>
          <p:nvPr/>
        </p:nvSpPr>
        <p:spPr>
          <a:xfrm>
            <a:off x="8156448" y="3941064"/>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3840480"/>
            <a:ext cx="2926079" cy="402335"/>
          </a:xfrm>
          <a:prstGeom prst="rect">
            <a:avLst/>
          </a:prstGeom>
          <a:noFill/>
        </p:spPr>
        <p:txBody>
          <a:bodyPr wrap="square" lIns="27432" rIns="27432" tIns="27432" bIns="27432" anchor="t">
            <a:spAutoFit/>
          </a:bodyPr>
          <a:lstStyle/>
          <a:p>
            <a:pPr algn="l">
              <a:spcAft>
                <a:spcPts val="0"/>
              </a:spcAft>
            </a:pPr>
            <a:r>
              <a:rPr sz="1300" b="0">
                <a:solidFill>
                  <a:srgbClr val="202A30"/>
                </a:solidFill>
                <a:latin typeface="Arial"/>
              </a:rPr>
              <a:t>Report both error types</a:t>
            </a:r>
          </a:p>
        </p:txBody>
      </p:sp>
      <p:sp>
        <p:nvSpPr>
          <p:cNvPr id="14" name="Oval 13"/>
          <p:cNvSpPr/>
          <p:nvPr/>
        </p:nvSpPr>
        <p:spPr>
          <a:xfrm>
            <a:off x="8156448" y="4370832"/>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4270248"/>
            <a:ext cx="2926079" cy="402335"/>
          </a:xfrm>
          <a:prstGeom prst="rect">
            <a:avLst/>
          </a:prstGeom>
          <a:noFill/>
        </p:spPr>
        <p:txBody>
          <a:bodyPr wrap="square" lIns="27432" rIns="27432" tIns="27432" bIns="27432" anchor="t">
            <a:spAutoFit/>
          </a:bodyPr>
          <a:lstStyle/>
          <a:p>
            <a:pPr algn="l">
              <a:spcAft>
                <a:spcPts val="0"/>
              </a:spcAft>
            </a:pPr>
            <a:r>
              <a:rPr sz="1300" b="0">
                <a:solidFill>
                  <a:srgbClr val="202A30"/>
                </a:solidFill>
                <a:latin typeface="Arial"/>
              </a:rPr>
              <a:t>Choose for the maintenance context</a:t>
            </a:r>
          </a:p>
        </p:txBody>
      </p:sp>
      <p:sp>
        <p:nvSpPr>
          <p:cNvPr id="16" name="Oval 15"/>
          <p:cNvSpPr/>
          <p:nvPr/>
        </p:nvSpPr>
        <p:spPr>
          <a:xfrm>
            <a:off x="8156448" y="4800600"/>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7" y="4700016"/>
            <a:ext cx="2926079" cy="402335"/>
          </a:xfrm>
          <a:prstGeom prst="rect">
            <a:avLst/>
          </a:prstGeom>
          <a:noFill/>
        </p:spPr>
        <p:txBody>
          <a:bodyPr wrap="square" lIns="27432" rIns="27432" tIns="27432" bIns="27432" anchor="t">
            <a:spAutoFit/>
          </a:bodyPr>
          <a:lstStyle/>
          <a:p>
            <a:pPr algn="l">
              <a:spcAft>
                <a:spcPts val="0"/>
              </a:spcAft>
            </a:pPr>
            <a:r>
              <a:rPr sz="1300" b="0">
                <a:solidFill>
                  <a:srgbClr val="202A30"/>
                </a:solidFill>
                <a:latin typeface="Arial"/>
              </a:rPr>
              <a:t>Document assumptions</a:t>
            </a:r>
          </a:p>
        </p:txBody>
      </p:sp>
      <p:sp>
        <p:nvSpPr>
          <p:cNvPr id="18" name="Oval 17"/>
          <p:cNvSpPr/>
          <p:nvPr/>
        </p:nvSpPr>
        <p:spPr>
          <a:xfrm>
            <a:off x="8156448" y="5230368"/>
            <a:ext cx="82296" cy="82296"/>
          </a:xfrm>
          <a:prstGeom prst="ellipse">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9327" y="5129784"/>
            <a:ext cx="2926079" cy="402335"/>
          </a:xfrm>
          <a:prstGeom prst="rect">
            <a:avLst/>
          </a:prstGeom>
          <a:noFill/>
        </p:spPr>
        <p:txBody>
          <a:bodyPr wrap="square" lIns="27432" rIns="27432" tIns="27432" bIns="27432" anchor="t">
            <a:spAutoFit/>
          </a:bodyPr>
          <a:lstStyle/>
          <a:p>
            <a:pPr algn="l">
              <a:spcAft>
                <a:spcPts val="0"/>
              </a:spcAft>
            </a:pPr>
            <a:r>
              <a:rPr sz="1300" b="0">
                <a:solidFill>
                  <a:srgbClr val="202A30"/>
                </a:solidFill>
                <a:latin typeface="Arial"/>
              </a:rPr>
              <a:t>Keep expert decision authority</a:t>
            </a:r>
          </a:p>
        </p:txBody>
      </p:sp>
      <p:sp>
        <p:nvSpPr>
          <p:cNvPr id="20" name="TextBox 19"/>
          <p:cNvSpPr txBox="1"/>
          <p:nvPr/>
        </p:nvSpPr>
        <p:spPr>
          <a:xfrm>
            <a:off x="8138160" y="5833872"/>
            <a:ext cx="3154680" cy="274320"/>
          </a:xfrm>
          <a:prstGeom prst="rect">
            <a:avLst/>
          </a:prstGeom>
          <a:noFill/>
        </p:spPr>
        <p:txBody>
          <a:bodyPr wrap="square" lIns="27432" rIns="27432" tIns="27432" bIns="27432" anchor="t">
            <a:spAutoFit/>
          </a:bodyPr>
          <a:lstStyle/>
          <a:p>
            <a:pPr algn="ctr">
              <a:spcAft>
                <a:spcPts val="0"/>
              </a:spcAft>
            </a:pPr>
            <a:r>
              <a:rPr sz="1400" b="1">
                <a:solidFill>
                  <a:srgbClr val="237470"/>
                </a:solidFill>
                <a:latin typeface="Arial"/>
              </a:rPr>
              <a:t>No threshold is universally best.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10698480" cy="457200"/>
          </a:xfrm>
          <a:prstGeom prst="rect">
            <a:avLst/>
          </a:prstGeom>
          <a:noFill/>
        </p:spPr>
        <p:txBody>
          <a:bodyPr wrap="square" lIns="27432" rIns="27432" tIns="27432" bIns="27432" anchor="t">
            <a:spAutoFit/>
          </a:bodyPr>
          <a:lstStyle/>
          <a:p>
            <a:pPr algn="l">
              <a:spcAft>
                <a:spcPts val="0"/>
              </a:spcAft>
            </a:pPr>
            <a:r>
              <a:rPr sz="2500" b="1">
                <a:solidFill>
                  <a:srgbClr val="202A30"/>
                </a:solidFill>
                <a:latin typeface="Arial"/>
              </a:rPr>
              <a:t>Conclusion, limitations, and future work</a:t>
            </a:r>
          </a:p>
        </p:txBody>
      </p:sp>
      <p:sp>
        <p:nvSpPr>
          <p:cNvPr id="3" name="Rectangle 2"/>
          <p:cNvSpPr/>
          <p:nvPr/>
        </p:nvSpPr>
        <p:spPr>
          <a:xfrm>
            <a:off x="566928" y="850392"/>
            <a:ext cx="640080" cy="45720"/>
          </a:xfrm>
          <a:prstGeom prst="rect">
            <a:avLst/>
          </a:prstGeom>
          <a:solidFill>
            <a:srgbClr val="E27E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556248"/>
            <a:ext cx="5029200" cy="164592"/>
          </a:xfrm>
          <a:prstGeom prst="rect">
            <a:avLst/>
          </a:prstGeom>
          <a:noFill/>
        </p:spPr>
        <p:txBody>
          <a:bodyPr wrap="square" lIns="27432" rIns="27432" tIns="27432" bIns="27432" anchor="t">
            <a:spAutoFit/>
          </a:bodyPr>
          <a:lstStyle/>
          <a:p>
            <a:pPr algn="l">
              <a:spcAft>
                <a:spcPts val="0"/>
              </a:spcAft>
            </a:pPr>
            <a:r>
              <a:rPr sz="800" b="0">
                <a:solidFill>
                  <a:srgbClr val="5B6970"/>
                </a:solidFill>
                <a:latin typeface="Arial"/>
              </a:rPr>
              <a:t>Responsible and Explainable AI | University of Regina</a:t>
            </a:r>
          </a:p>
        </p:txBody>
      </p:sp>
      <p:sp>
        <p:nvSpPr>
          <p:cNvPr id="5" name="TextBox 4"/>
          <p:cNvSpPr txBox="1"/>
          <p:nvPr/>
        </p:nvSpPr>
        <p:spPr>
          <a:xfrm>
            <a:off x="11109960" y="6528816"/>
            <a:ext cx="502920" cy="182880"/>
          </a:xfrm>
          <a:prstGeom prst="rect">
            <a:avLst/>
          </a:prstGeom>
          <a:noFill/>
        </p:spPr>
        <p:txBody>
          <a:bodyPr wrap="square" lIns="27432" rIns="27432" tIns="27432" bIns="27432" anchor="t">
            <a:spAutoFit/>
          </a:bodyPr>
          <a:lstStyle/>
          <a:p>
            <a:pPr algn="r">
              <a:spcAft>
                <a:spcPts val="0"/>
              </a:spcAft>
            </a:pPr>
            <a:r>
              <a:rPr sz="900" b="1">
                <a:solidFill>
                  <a:srgbClr val="5B6970"/>
                </a:solidFill>
                <a:latin typeface="Arial"/>
              </a:rPr>
              <a:t>13</a:t>
            </a:r>
          </a:p>
        </p:txBody>
      </p:sp>
      <p:sp>
        <p:nvSpPr>
          <p:cNvPr id="6" name="Rounded Rectangle 5"/>
          <p:cNvSpPr/>
          <p:nvPr/>
        </p:nvSpPr>
        <p:spPr>
          <a:xfrm>
            <a:off x="640080" y="1243584"/>
            <a:ext cx="3401568" cy="4251960"/>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1508760"/>
            <a:ext cx="1417320" cy="320040"/>
          </a:xfrm>
          <a:prstGeom prst="roundRect">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17904"/>
            <a:ext cx="1417320"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CONCLUSIONS</a:t>
            </a:r>
          </a:p>
        </p:txBody>
      </p:sp>
      <p:sp>
        <p:nvSpPr>
          <p:cNvPr id="9" name="Oval 8"/>
          <p:cNvSpPr/>
          <p:nvPr/>
        </p:nvSpPr>
        <p:spPr>
          <a:xfrm>
            <a:off x="914400" y="2203703"/>
            <a:ext cx="82296" cy="82296"/>
          </a:xfrm>
          <a:prstGeom prst="ellipse">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724912" cy="630936"/>
          </a:xfrm>
          <a:prstGeom prst="rect">
            <a:avLst/>
          </a:prstGeom>
          <a:noFill/>
        </p:spPr>
        <p:txBody>
          <a:bodyPr wrap="square" lIns="27432" rIns="27432" tIns="27432" bIns="27432" anchor="t">
            <a:spAutoFit/>
          </a:bodyPr>
          <a:lstStyle/>
          <a:p>
            <a:pPr algn="l">
              <a:spcAft>
                <a:spcPts val="0"/>
              </a:spcAft>
            </a:pPr>
            <a:r>
              <a:rPr sz="1400" b="0">
                <a:solidFill>
                  <a:srgbClr val="202A30"/>
                </a:solidFill>
                <a:latin typeface="Arial"/>
              </a:rPr>
              <a:t>Anomaly and failure are different concepts</a:t>
            </a:r>
          </a:p>
        </p:txBody>
      </p:sp>
      <p:sp>
        <p:nvSpPr>
          <p:cNvPr id="11" name="Oval 10"/>
          <p:cNvSpPr/>
          <p:nvPr/>
        </p:nvSpPr>
        <p:spPr>
          <a:xfrm>
            <a:off x="914400" y="2862071"/>
            <a:ext cx="82296" cy="82296"/>
          </a:xfrm>
          <a:prstGeom prst="ellipse">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761487"/>
            <a:ext cx="2724912" cy="630936"/>
          </a:xfrm>
          <a:prstGeom prst="rect">
            <a:avLst/>
          </a:prstGeom>
          <a:noFill/>
        </p:spPr>
        <p:txBody>
          <a:bodyPr wrap="square" lIns="27432" rIns="27432" tIns="27432" bIns="27432" anchor="t">
            <a:spAutoFit/>
          </a:bodyPr>
          <a:lstStyle/>
          <a:p>
            <a:pPr algn="l">
              <a:spcAft>
                <a:spcPts val="0"/>
              </a:spcAft>
            </a:pPr>
            <a:r>
              <a:rPr sz="1400" b="0">
                <a:solidFill>
                  <a:srgbClr val="202A30"/>
                </a:solidFill>
                <a:latin typeface="Arial"/>
              </a:rPr>
              <a:t>Engineered tree gave the best classification balance</a:t>
            </a:r>
          </a:p>
        </p:txBody>
      </p:sp>
      <p:sp>
        <p:nvSpPr>
          <p:cNvPr id="13" name="Oval 12"/>
          <p:cNvSpPr/>
          <p:nvPr/>
        </p:nvSpPr>
        <p:spPr>
          <a:xfrm>
            <a:off x="914400" y="3520439"/>
            <a:ext cx="82296" cy="82296"/>
          </a:xfrm>
          <a:prstGeom prst="ellipse">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419856"/>
            <a:ext cx="2724912" cy="630936"/>
          </a:xfrm>
          <a:prstGeom prst="rect">
            <a:avLst/>
          </a:prstGeom>
          <a:noFill/>
        </p:spPr>
        <p:txBody>
          <a:bodyPr wrap="square" lIns="27432" rIns="27432" tIns="27432" bIns="27432" anchor="t">
            <a:spAutoFit/>
          </a:bodyPr>
          <a:lstStyle/>
          <a:p>
            <a:pPr algn="l">
              <a:spcAft>
                <a:spcPts val="0"/>
              </a:spcAft>
            </a:pPr>
            <a:r>
              <a:rPr sz="1400" b="0">
                <a:solidFill>
                  <a:srgbClr val="202A30"/>
                </a:solidFill>
                <a:latin typeface="Arial"/>
              </a:rPr>
              <a:t>SHAP exposed influence; LIME required fidelity checks</a:t>
            </a:r>
          </a:p>
        </p:txBody>
      </p:sp>
      <p:sp>
        <p:nvSpPr>
          <p:cNvPr id="15" name="Oval 14"/>
          <p:cNvSpPr/>
          <p:nvPr/>
        </p:nvSpPr>
        <p:spPr>
          <a:xfrm>
            <a:off x="914400" y="4178808"/>
            <a:ext cx="82296" cy="82296"/>
          </a:xfrm>
          <a:prstGeom prst="ellipse">
            <a:avLst/>
          </a:prstGeom>
          <a:solidFill>
            <a:srgbClr val="237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078224"/>
            <a:ext cx="2724912" cy="630936"/>
          </a:xfrm>
          <a:prstGeom prst="rect">
            <a:avLst/>
          </a:prstGeom>
          <a:noFill/>
        </p:spPr>
        <p:txBody>
          <a:bodyPr wrap="square" lIns="27432" rIns="27432" tIns="27432" bIns="27432" anchor="t">
            <a:spAutoFit/>
          </a:bodyPr>
          <a:lstStyle/>
          <a:p>
            <a:pPr algn="l">
              <a:spcAft>
                <a:spcPts val="0"/>
              </a:spcAft>
            </a:pPr>
            <a:r>
              <a:rPr sz="1400" b="0">
                <a:solidFill>
                  <a:srgbClr val="202A30"/>
                </a:solidFill>
                <a:latin typeface="Arial"/>
              </a:rPr>
              <a:t>Thresholds change practical error consequences</a:t>
            </a:r>
          </a:p>
        </p:txBody>
      </p:sp>
      <p:sp>
        <p:nvSpPr>
          <p:cNvPr id="17" name="Rounded Rectangle 16"/>
          <p:cNvSpPr/>
          <p:nvPr/>
        </p:nvSpPr>
        <p:spPr>
          <a:xfrm>
            <a:off x="4325112" y="1243584"/>
            <a:ext cx="3401568" cy="4251960"/>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81144" y="1508760"/>
            <a:ext cx="1417320" cy="320040"/>
          </a:xfrm>
          <a:prstGeom prst="roundRect">
            <a:avLst/>
          </a:prstGeom>
          <a:solidFill>
            <a:srgbClr val="B24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81144" y="1517904"/>
            <a:ext cx="1417320"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LIMITATIONS</a:t>
            </a:r>
          </a:p>
        </p:txBody>
      </p:sp>
      <p:sp>
        <p:nvSpPr>
          <p:cNvPr id="20" name="Oval 19"/>
          <p:cNvSpPr/>
          <p:nvPr/>
        </p:nvSpPr>
        <p:spPr>
          <a:xfrm>
            <a:off x="4599432" y="2203703"/>
            <a:ext cx="82296" cy="82296"/>
          </a:xfrm>
          <a:prstGeom prst="ellipse">
            <a:avLst/>
          </a:prstGeom>
          <a:solidFill>
            <a:srgbClr val="B24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82312" y="2103120"/>
            <a:ext cx="2724912" cy="630936"/>
          </a:xfrm>
          <a:prstGeom prst="rect">
            <a:avLst/>
          </a:prstGeom>
          <a:noFill/>
        </p:spPr>
        <p:txBody>
          <a:bodyPr wrap="square" lIns="27432" rIns="27432" tIns="27432" bIns="27432" anchor="t">
            <a:spAutoFit/>
          </a:bodyPr>
          <a:lstStyle/>
          <a:p>
            <a:pPr algn="l">
              <a:spcAft>
                <a:spcPts val="0"/>
              </a:spcAft>
            </a:pPr>
            <a:r>
              <a:rPr sz="1400" b="0">
                <a:solidFill>
                  <a:srgbClr val="202A30"/>
                </a:solidFill>
                <a:latin typeface="Arial"/>
              </a:rPr>
              <a:t>Synthetic dataset</a:t>
            </a:r>
          </a:p>
        </p:txBody>
      </p:sp>
      <p:sp>
        <p:nvSpPr>
          <p:cNvPr id="22" name="Oval 21"/>
          <p:cNvSpPr/>
          <p:nvPr/>
        </p:nvSpPr>
        <p:spPr>
          <a:xfrm>
            <a:off x="4599432" y="2862071"/>
            <a:ext cx="82296" cy="82296"/>
          </a:xfrm>
          <a:prstGeom prst="ellipse">
            <a:avLst/>
          </a:prstGeom>
          <a:solidFill>
            <a:srgbClr val="B24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82312" y="2761487"/>
            <a:ext cx="2724912" cy="630936"/>
          </a:xfrm>
          <a:prstGeom prst="rect">
            <a:avLst/>
          </a:prstGeom>
          <a:noFill/>
        </p:spPr>
        <p:txBody>
          <a:bodyPr wrap="square" lIns="27432" rIns="27432" tIns="27432" bIns="27432" anchor="t">
            <a:spAutoFit/>
          </a:bodyPr>
          <a:lstStyle/>
          <a:p>
            <a:pPr algn="l">
              <a:spcAft>
                <a:spcPts val="0"/>
              </a:spcAft>
            </a:pPr>
            <a:r>
              <a:rPr sz="1400" b="0">
                <a:solidFill>
                  <a:srgbClr val="202A30"/>
                </a:solidFill>
                <a:latin typeface="Arial"/>
              </a:rPr>
              <a:t>No machine time histories</a:t>
            </a:r>
          </a:p>
        </p:txBody>
      </p:sp>
      <p:sp>
        <p:nvSpPr>
          <p:cNvPr id="24" name="Oval 23"/>
          <p:cNvSpPr/>
          <p:nvPr/>
        </p:nvSpPr>
        <p:spPr>
          <a:xfrm>
            <a:off x="4599432" y="3520439"/>
            <a:ext cx="82296" cy="82296"/>
          </a:xfrm>
          <a:prstGeom prst="ellipse">
            <a:avLst/>
          </a:prstGeom>
          <a:solidFill>
            <a:srgbClr val="B24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82312" y="3419856"/>
            <a:ext cx="2724912" cy="630936"/>
          </a:xfrm>
          <a:prstGeom prst="rect">
            <a:avLst/>
          </a:prstGeom>
          <a:noFill/>
        </p:spPr>
        <p:txBody>
          <a:bodyPr wrap="square" lIns="27432" rIns="27432" tIns="27432" bIns="27432" anchor="t">
            <a:spAutoFit/>
          </a:bodyPr>
          <a:lstStyle/>
          <a:p>
            <a:pPr algn="l">
              <a:spcAft>
                <a:spcPts val="0"/>
              </a:spcAft>
            </a:pPr>
            <a:r>
              <a:rPr sz="1400" b="0">
                <a:solidFill>
                  <a:srgbClr val="202A30"/>
                </a:solidFill>
                <a:latin typeface="Arial"/>
              </a:rPr>
              <a:t>No expert evaluation</a:t>
            </a:r>
          </a:p>
        </p:txBody>
      </p:sp>
      <p:sp>
        <p:nvSpPr>
          <p:cNvPr id="26" name="Oval 25"/>
          <p:cNvSpPr/>
          <p:nvPr/>
        </p:nvSpPr>
        <p:spPr>
          <a:xfrm>
            <a:off x="4599432" y="4178808"/>
            <a:ext cx="82296" cy="82296"/>
          </a:xfrm>
          <a:prstGeom prst="ellipse">
            <a:avLst/>
          </a:prstGeom>
          <a:solidFill>
            <a:srgbClr val="B24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078224"/>
            <a:ext cx="2724912" cy="630936"/>
          </a:xfrm>
          <a:prstGeom prst="rect">
            <a:avLst/>
          </a:prstGeom>
          <a:noFill/>
        </p:spPr>
        <p:txBody>
          <a:bodyPr wrap="square" lIns="27432" rIns="27432" tIns="27432" bIns="27432" anchor="t">
            <a:spAutoFit/>
          </a:bodyPr>
          <a:lstStyle/>
          <a:p>
            <a:pPr algn="l">
              <a:spcAft>
                <a:spcPts val="0"/>
              </a:spcAft>
            </a:pPr>
            <a:r>
              <a:rPr sz="1400" b="0">
                <a:solidFill>
                  <a:srgbClr val="202A30"/>
                </a:solidFill>
                <a:latin typeface="Arial"/>
              </a:rPr>
              <a:t>Probabilities not calibrated for deployment</a:t>
            </a:r>
          </a:p>
        </p:txBody>
      </p:sp>
      <p:sp>
        <p:nvSpPr>
          <p:cNvPr id="28" name="Rounded Rectangle 27"/>
          <p:cNvSpPr/>
          <p:nvPr/>
        </p:nvSpPr>
        <p:spPr>
          <a:xfrm>
            <a:off x="8010144" y="1243584"/>
            <a:ext cx="3401568" cy="4251960"/>
          </a:xfrm>
          <a:prstGeom prst="roundRect">
            <a:avLst/>
          </a:prstGeom>
          <a:solidFill>
            <a:srgbClr val="F2F6F7"/>
          </a:solidFill>
          <a:ln w="10160">
            <a:solidFill>
              <a:srgbClr val="D3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266175" y="1508760"/>
            <a:ext cx="1417320" cy="320040"/>
          </a:xfrm>
          <a:prstGeom prst="roundRect">
            <a:avLst/>
          </a:prstGeom>
          <a:solidFill>
            <a:srgbClr val="2D6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66175" y="1517904"/>
            <a:ext cx="1417320" cy="265176"/>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rial"/>
              </a:rPr>
              <a:t>FUTURE WORK</a:t>
            </a:r>
          </a:p>
        </p:txBody>
      </p:sp>
      <p:sp>
        <p:nvSpPr>
          <p:cNvPr id="31" name="Oval 30"/>
          <p:cNvSpPr/>
          <p:nvPr/>
        </p:nvSpPr>
        <p:spPr>
          <a:xfrm>
            <a:off x="8284464" y="2203703"/>
            <a:ext cx="82296" cy="82296"/>
          </a:xfrm>
          <a:prstGeom prst="ellipse">
            <a:avLst/>
          </a:prstGeom>
          <a:solidFill>
            <a:srgbClr val="2D6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67344" y="2103120"/>
            <a:ext cx="2724912" cy="630936"/>
          </a:xfrm>
          <a:prstGeom prst="rect">
            <a:avLst/>
          </a:prstGeom>
          <a:noFill/>
        </p:spPr>
        <p:txBody>
          <a:bodyPr wrap="square" lIns="27432" rIns="27432" tIns="27432" bIns="27432" anchor="t">
            <a:spAutoFit/>
          </a:bodyPr>
          <a:lstStyle/>
          <a:p>
            <a:pPr algn="l">
              <a:spcAft>
                <a:spcPts val="0"/>
              </a:spcAft>
            </a:pPr>
            <a:r>
              <a:rPr sz="1400" b="0">
                <a:solidFill>
                  <a:srgbClr val="202A30"/>
                </a:solidFill>
                <a:latin typeface="Arial"/>
              </a:rPr>
              <a:t>Real temporal machine data</a:t>
            </a:r>
          </a:p>
        </p:txBody>
      </p:sp>
      <p:sp>
        <p:nvSpPr>
          <p:cNvPr id="33" name="Oval 32"/>
          <p:cNvSpPr/>
          <p:nvPr/>
        </p:nvSpPr>
        <p:spPr>
          <a:xfrm>
            <a:off x="8284464" y="2862071"/>
            <a:ext cx="82296" cy="82296"/>
          </a:xfrm>
          <a:prstGeom prst="ellipse">
            <a:avLst/>
          </a:prstGeom>
          <a:solidFill>
            <a:srgbClr val="2D6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67344" y="2761487"/>
            <a:ext cx="2724912" cy="630936"/>
          </a:xfrm>
          <a:prstGeom prst="rect">
            <a:avLst/>
          </a:prstGeom>
          <a:noFill/>
        </p:spPr>
        <p:txBody>
          <a:bodyPr wrap="square" lIns="27432" rIns="27432" tIns="27432" bIns="27432" anchor="t">
            <a:spAutoFit/>
          </a:bodyPr>
          <a:lstStyle/>
          <a:p>
            <a:pPr algn="l">
              <a:spcAft>
                <a:spcPts val="0"/>
              </a:spcAft>
            </a:pPr>
            <a:r>
              <a:rPr sz="1400" b="0">
                <a:solidFill>
                  <a:srgbClr val="202A30"/>
                </a:solidFill>
                <a:latin typeface="Arial"/>
              </a:rPr>
              <a:t>Calibration and monitoring</a:t>
            </a:r>
          </a:p>
        </p:txBody>
      </p:sp>
      <p:sp>
        <p:nvSpPr>
          <p:cNvPr id="35" name="Oval 34"/>
          <p:cNvSpPr/>
          <p:nvPr/>
        </p:nvSpPr>
        <p:spPr>
          <a:xfrm>
            <a:off x="8284464" y="3520439"/>
            <a:ext cx="82296" cy="82296"/>
          </a:xfrm>
          <a:prstGeom prst="ellipse">
            <a:avLst/>
          </a:prstGeom>
          <a:solidFill>
            <a:srgbClr val="2D6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67344" y="3419856"/>
            <a:ext cx="2724912" cy="630936"/>
          </a:xfrm>
          <a:prstGeom prst="rect">
            <a:avLst/>
          </a:prstGeom>
          <a:noFill/>
        </p:spPr>
        <p:txBody>
          <a:bodyPr wrap="square" lIns="27432" rIns="27432" tIns="27432" bIns="27432" anchor="t">
            <a:spAutoFit/>
          </a:bodyPr>
          <a:lstStyle/>
          <a:p>
            <a:pPr algn="l">
              <a:spcAft>
                <a:spcPts val="0"/>
              </a:spcAft>
            </a:pPr>
            <a:r>
              <a:rPr sz="1400" b="0">
                <a:solidFill>
                  <a:srgbClr val="202A30"/>
                </a:solidFill>
                <a:latin typeface="Arial"/>
              </a:rPr>
              <a:t>Domain-defined error costs</a:t>
            </a:r>
          </a:p>
        </p:txBody>
      </p:sp>
      <p:sp>
        <p:nvSpPr>
          <p:cNvPr id="37" name="Oval 36"/>
          <p:cNvSpPr/>
          <p:nvPr/>
        </p:nvSpPr>
        <p:spPr>
          <a:xfrm>
            <a:off x="8284464" y="4178808"/>
            <a:ext cx="82296" cy="82296"/>
          </a:xfrm>
          <a:prstGeom prst="ellipse">
            <a:avLst/>
          </a:prstGeom>
          <a:solidFill>
            <a:srgbClr val="2D6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7344" y="4078224"/>
            <a:ext cx="2724912" cy="630936"/>
          </a:xfrm>
          <a:prstGeom prst="rect">
            <a:avLst/>
          </a:prstGeom>
          <a:noFill/>
        </p:spPr>
        <p:txBody>
          <a:bodyPr wrap="square" lIns="27432" rIns="27432" tIns="27432" bIns="27432" anchor="t">
            <a:spAutoFit/>
          </a:bodyPr>
          <a:lstStyle/>
          <a:p>
            <a:pPr algn="l">
              <a:spcAft>
                <a:spcPts val="0"/>
              </a:spcAft>
            </a:pPr>
            <a:r>
              <a:rPr sz="1400" b="0">
                <a:solidFill>
                  <a:srgbClr val="202A30"/>
                </a:solidFill>
                <a:latin typeface="Arial"/>
              </a:rPr>
              <a:t>Maintenance-expert explanation study</a:t>
            </a:r>
          </a:p>
        </p:txBody>
      </p:sp>
      <p:sp>
        <p:nvSpPr>
          <p:cNvPr id="39" name="Rounded Rectangle 38"/>
          <p:cNvSpPr/>
          <p:nvPr/>
        </p:nvSpPr>
        <p:spPr>
          <a:xfrm>
            <a:off x="1051560" y="5687568"/>
            <a:ext cx="10058400" cy="566928"/>
          </a:xfrm>
          <a:prstGeom prst="roundRect">
            <a:avLst/>
          </a:prstGeom>
          <a:solidFill>
            <a:srgbClr val="DCEFED"/>
          </a:solidFill>
          <a:ln w="10160">
            <a:solidFill>
              <a:srgbClr val="2374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61872" y="5824728"/>
            <a:ext cx="9646920" cy="256032"/>
          </a:xfrm>
          <a:prstGeom prst="rect">
            <a:avLst/>
          </a:prstGeom>
          <a:noFill/>
        </p:spPr>
        <p:txBody>
          <a:bodyPr wrap="square" lIns="27432" rIns="27432" tIns="27432" bIns="27432" anchor="t">
            <a:spAutoFit/>
          </a:bodyPr>
          <a:lstStyle/>
          <a:p>
            <a:pPr algn="ctr">
              <a:spcAft>
                <a:spcPts val="0"/>
              </a:spcAft>
            </a:pPr>
            <a:r>
              <a:rPr sz="1700" b="1">
                <a:solidFill>
                  <a:srgbClr val="237470"/>
                </a:solidFill>
                <a:latin typeface="Arial"/>
              </a:rPr>
              <a:t>Responsible prediction requires performance, explanation, error analysis, and honest limits.</a:t>
            </a:r>
          </a:p>
        </p:txBody>
      </p:sp>
      <p:sp>
        <p:nvSpPr>
          <p:cNvPr id="41" name="TextBox 40"/>
          <p:cNvSpPr txBox="1"/>
          <p:nvPr/>
        </p:nvSpPr>
        <p:spPr>
          <a:xfrm>
            <a:off x="9820656" y="6345936"/>
            <a:ext cx="1508760" cy="201168"/>
          </a:xfrm>
          <a:prstGeom prst="rect">
            <a:avLst/>
          </a:prstGeom>
          <a:noFill/>
        </p:spPr>
        <p:txBody>
          <a:bodyPr wrap="square" lIns="27432" rIns="27432" tIns="27432" bIns="27432" anchor="t">
            <a:spAutoFit/>
          </a:bodyPr>
          <a:lstStyle/>
          <a:p>
            <a:pPr algn="r">
              <a:spcAft>
                <a:spcPts val="0"/>
              </a:spcAft>
            </a:pPr>
            <a:r>
              <a:rPr sz="1300" b="1">
                <a:solidFill>
                  <a:srgbClr val="E27E2C"/>
                </a:solidFill>
                <a:latin typeface="Arial"/>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Predictive Maintenance Using Machine Learning</dc:title>
  <dc:subject>Responsible and Explainable AI course project</dc:subject>
  <dc:creator>Bijay Pandey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